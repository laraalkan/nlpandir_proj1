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8" r:id="rId9"/>
    <p:sldId id="269" r:id="rId10"/>
    <p:sldId id="270" r:id="rId11"/>
    <p:sldId id="271" r:id="rId1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1" d="100"/>
          <a:sy n="81" d="100"/>
        </p:scale>
        <p:origin x="6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F85B4B-B17F-5F3B-B78F-09CCEFC08ECB}"/>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29804908-5AF9-220B-FFF1-E7B2CFF1E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D0153829-4AB9-7534-5A0B-C9E314248CF9}"/>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5" name="Alt Bilgi Yer Tutucusu 4">
            <a:extLst>
              <a:ext uri="{FF2B5EF4-FFF2-40B4-BE49-F238E27FC236}">
                <a16:creationId xmlns:a16="http://schemas.microsoft.com/office/drawing/2014/main" id="{E9099FB6-F034-C8E8-5149-C6AC9414F6D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0E3E511-C74D-FE99-203C-7A1DAC0B6EA0}"/>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1484530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1478DE-C381-3619-DAAC-F561A65925D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84E7F2A-B114-F672-8895-219019DB6758}"/>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C6E8683-D4BC-4159-E4AC-4036442799DF}"/>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5" name="Alt Bilgi Yer Tutucusu 4">
            <a:extLst>
              <a:ext uri="{FF2B5EF4-FFF2-40B4-BE49-F238E27FC236}">
                <a16:creationId xmlns:a16="http://schemas.microsoft.com/office/drawing/2014/main" id="{0059C29E-A30A-7C8A-B15C-D90DD095282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D250A8D-3EBB-2B76-7059-10612D3D5EAE}"/>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77594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026363B-58DD-722B-D382-F0B32E8B964B}"/>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75B3EBF6-0831-C396-2D9C-E3A01C5F3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E0DB6879-C1C7-D6E3-FE15-8D5A19A2F789}"/>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5" name="Alt Bilgi Yer Tutucusu 4">
            <a:extLst>
              <a:ext uri="{FF2B5EF4-FFF2-40B4-BE49-F238E27FC236}">
                <a16:creationId xmlns:a16="http://schemas.microsoft.com/office/drawing/2014/main" id="{48F70918-8C3D-36B4-2A7F-DB6B929D0C3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551528-46D2-34CF-A13A-1ACD81AE0CE0}"/>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547939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EFA0C6F-7C98-07DC-64A0-C37BD881207D}"/>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BFD6676-7ED4-824E-3616-3E6EB23A98FB}"/>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819EDDDA-447A-EF9A-F0E5-F935626B138D}"/>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BF098A3F-4A9D-C297-89EC-9F478E36855B}"/>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6" name="Alt Bilgi Yer Tutucusu 5">
            <a:extLst>
              <a:ext uri="{FF2B5EF4-FFF2-40B4-BE49-F238E27FC236}">
                <a16:creationId xmlns:a16="http://schemas.microsoft.com/office/drawing/2014/main" id="{F36C901A-E1AA-4E87-4B4C-36C9E34D9BC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6553218-6906-D3BD-9888-15B7F4717C07}"/>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265644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6EC4D2-3BE4-1A37-185F-C1DE8A42AED5}"/>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4C7178DD-4BF9-00FC-0D8F-24FCC6D3FD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38150407-5A0E-C360-BC1B-55E421D77EE5}"/>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930BB712-8DAF-21BB-C6FF-DCA46D15B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A46E2C21-0CD4-1EC2-2764-5174D8FCF5E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660D76A-590C-FEE5-671A-FF52C40A37E0}"/>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8" name="Alt Bilgi Yer Tutucusu 7">
            <a:extLst>
              <a:ext uri="{FF2B5EF4-FFF2-40B4-BE49-F238E27FC236}">
                <a16:creationId xmlns:a16="http://schemas.microsoft.com/office/drawing/2014/main" id="{FCD656FD-D57A-E31C-F666-8A123C778F3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6A88B35C-4401-37CF-1D7D-2114197611FE}"/>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2789610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3782474-23E7-6AC2-BA59-4D477309168E}"/>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B0E85A1D-4968-0C1C-E41B-781E369A3A0F}"/>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4" name="Alt Bilgi Yer Tutucusu 3">
            <a:extLst>
              <a:ext uri="{FF2B5EF4-FFF2-40B4-BE49-F238E27FC236}">
                <a16:creationId xmlns:a16="http://schemas.microsoft.com/office/drawing/2014/main" id="{EE91B15C-1167-54F9-9EC1-21C4BE8B3041}"/>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5C126844-AE23-CCA9-C02D-8F3BF21CAF36}"/>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1898154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E532684-9DDA-70C6-ABB6-6EB84AD40691}"/>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3" name="Alt Bilgi Yer Tutucusu 2">
            <a:extLst>
              <a:ext uri="{FF2B5EF4-FFF2-40B4-BE49-F238E27FC236}">
                <a16:creationId xmlns:a16="http://schemas.microsoft.com/office/drawing/2014/main" id="{027694A8-C23C-823B-2824-C71D18F4EC2F}"/>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1244897C-C683-DE86-EB69-A6C95ECD54A7}"/>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1534356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2DD7370-A930-30BA-858B-720F4577F337}"/>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729CF276-2EE6-FA34-0DE4-0A25122404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2320165D-4472-8EDC-9B11-E8BD21BD35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C6A45BE-47F9-0C19-D76F-D2F73E296C87}"/>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6" name="Alt Bilgi Yer Tutucusu 5">
            <a:extLst>
              <a:ext uri="{FF2B5EF4-FFF2-40B4-BE49-F238E27FC236}">
                <a16:creationId xmlns:a16="http://schemas.microsoft.com/office/drawing/2014/main" id="{25C5720A-C634-F62A-7FCA-71751753A9C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3D4A93F-5AB4-0489-235E-0E88592A930B}"/>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99273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EC0272-7242-748F-96D4-41838CA0537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F7BDA24-0DE3-7518-0937-8070AF86AC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67B4AEA4-525A-DC5E-C09B-EBA1C87D22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E448B63-76D9-17B3-9BD6-E2BDDF7C681D}"/>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6" name="Alt Bilgi Yer Tutucusu 5">
            <a:extLst>
              <a:ext uri="{FF2B5EF4-FFF2-40B4-BE49-F238E27FC236}">
                <a16:creationId xmlns:a16="http://schemas.microsoft.com/office/drawing/2014/main" id="{6861C824-99D5-5CBF-194D-A24EBCE5F22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EBC8912-E625-008B-650F-27EF2306FB5B}"/>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38535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8F2F6B-453F-199C-C482-A70DD6E4DDF2}"/>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6C062AC9-5535-52BD-7081-DE2F5DCBB523}"/>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B8EE95F-75F9-4C0D-3042-EA0F8A257817}"/>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5" name="Alt Bilgi Yer Tutucusu 4">
            <a:extLst>
              <a:ext uri="{FF2B5EF4-FFF2-40B4-BE49-F238E27FC236}">
                <a16:creationId xmlns:a16="http://schemas.microsoft.com/office/drawing/2014/main" id="{5FA63E6E-D501-6CFE-73FA-7CCC3EF0DE6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F65D96B-4D86-A6DF-0E84-FE3877C7C162}"/>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2321035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C2A569E5-0366-8A9E-0948-27A5068EB51D}"/>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183806D7-CDB1-64F1-2FE6-4C694C2735C0}"/>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5811383-F8F7-B31A-7A3E-294DB9A46183}"/>
              </a:ext>
            </a:extLst>
          </p:cNvPr>
          <p:cNvSpPr>
            <a:spLocks noGrp="1"/>
          </p:cNvSpPr>
          <p:nvPr>
            <p:ph type="dt" sz="half" idx="10"/>
          </p:nvPr>
        </p:nvSpPr>
        <p:spPr/>
        <p:txBody>
          <a:bodyPr/>
          <a:lstStyle/>
          <a:p>
            <a:fld id="{1F072817-75F2-49AF-B700-F68615B30D3D}" type="datetimeFigureOut">
              <a:rPr lang="tr-TR" smtClean="0"/>
              <a:t>3.04.2025</a:t>
            </a:fld>
            <a:endParaRPr lang="tr-TR"/>
          </a:p>
        </p:txBody>
      </p:sp>
      <p:sp>
        <p:nvSpPr>
          <p:cNvPr id="5" name="Alt Bilgi Yer Tutucusu 4">
            <a:extLst>
              <a:ext uri="{FF2B5EF4-FFF2-40B4-BE49-F238E27FC236}">
                <a16:creationId xmlns:a16="http://schemas.microsoft.com/office/drawing/2014/main" id="{28125D96-E0BB-5D08-8E2F-E32786B6641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04D4188-88E9-D2F8-9453-51B4806D601A}"/>
              </a:ext>
            </a:extLst>
          </p:cNvPr>
          <p:cNvSpPr>
            <a:spLocks noGrp="1"/>
          </p:cNvSpPr>
          <p:nvPr>
            <p:ph type="sldNum" sz="quarter" idx="12"/>
          </p:nvPr>
        </p:nvSpPr>
        <p:spPr/>
        <p:txBody>
          <a:bodyPr/>
          <a:lstStyle/>
          <a:p>
            <a:fld id="{8ED92C96-F5DB-4804-AF98-EB40551593F0}" type="slidenum">
              <a:rPr lang="tr-TR" smtClean="0"/>
              <a:t>‹#›</a:t>
            </a:fld>
            <a:endParaRPr lang="tr-TR"/>
          </a:p>
        </p:txBody>
      </p:sp>
    </p:spTree>
    <p:extLst>
      <p:ext uri="{BB962C8B-B14F-4D97-AF65-F5344CB8AC3E}">
        <p14:creationId xmlns:p14="http://schemas.microsoft.com/office/powerpoint/2010/main" val="1055906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81011165-9281-728D-F046-3146C27787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403F86EE-EB23-8CF6-C784-539559CC7A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AE38CD7-698E-23E2-C9AA-BAE4E3281B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072817-75F2-49AF-B700-F68615B30D3D}" type="datetimeFigureOut">
              <a:rPr lang="tr-TR" smtClean="0"/>
              <a:t>3.04.2025</a:t>
            </a:fld>
            <a:endParaRPr lang="tr-TR"/>
          </a:p>
        </p:txBody>
      </p:sp>
      <p:sp>
        <p:nvSpPr>
          <p:cNvPr id="5" name="Alt Bilgi Yer Tutucusu 4">
            <a:extLst>
              <a:ext uri="{FF2B5EF4-FFF2-40B4-BE49-F238E27FC236}">
                <a16:creationId xmlns:a16="http://schemas.microsoft.com/office/drawing/2014/main" id="{FFC3E27C-DA83-C320-85C1-321890A2A3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BE183DF6-C3CD-FF99-2E05-672CD22634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D92C96-F5DB-4804-AF98-EB40551593F0}" type="slidenum">
              <a:rPr lang="tr-TR" smtClean="0"/>
              <a:t>‹#›</a:t>
            </a:fld>
            <a:endParaRPr lang="tr-TR"/>
          </a:p>
        </p:txBody>
      </p:sp>
    </p:spTree>
    <p:extLst>
      <p:ext uri="{BB962C8B-B14F-4D97-AF65-F5344CB8AC3E}">
        <p14:creationId xmlns:p14="http://schemas.microsoft.com/office/powerpoint/2010/main" val="3919338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FCF113A-BAF0-790F-1F37-21C8DA54371D}"/>
              </a:ext>
            </a:extLst>
          </p:cNvPr>
          <p:cNvSpPr>
            <a:spLocks noGrp="1"/>
          </p:cNvSpPr>
          <p:nvPr>
            <p:ph type="ctrTitle"/>
          </p:nvPr>
        </p:nvSpPr>
        <p:spPr>
          <a:xfrm>
            <a:off x="1523999" y="1348606"/>
            <a:ext cx="9144000" cy="2387600"/>
          </a:xfrm>
        </p:spPr>
        <p:txBody>
          <a:bodyPr>
            <a:normAutofit/>
          </a:bodyPr>
          <a:lstStyle/>
          <a:p>
            <a:r>
              <a:rPr lang="en-US" sz="3200" b="0" i="0" dirty="0">
                <a:solidFill>
                  <a:srgbClr val="2D3B45"/>
                </a:solidFill>
                <a:effectLst/>
              </a:rPr>
              <a:t>Evaluation of your data collection &amp; information retrieval system</a:t>
            </a:r>
            <a:r>
              <a:rPr lang="tr-TR" sz="3200" b="0" i="0" dirty="0">
                <a:solidFill>
                  <a:srgbClr val="2D3B45"/>
                </a:solidFill>
                <a:effectLst/>
              </a:rPr>
              <a:t>- </a:t>
            </a:r>
            <a:r>
              <a:rPr lang="tr-TR" sz="3200" b="0" i="0" dirty="0" err="1">
                <a:solidFill>
                  <a:srgbClr val="2D3B45"/>
                </a:solidFill>
                <a:effectLst/>
              </a:rPr>
              <a:t>Homework</a:t>
            </a:r>
            <a:r>
              <a:rPr lang="tr-TR" sz="3200" b="0" i="0" dirty="0">
                <a:solidFill>
                  <a:srgbClr val="2D3B45"/>
                </a:solidFill>
                <a:effectLst/>
              </a:rPr>
              <a:t> 1 </a:t>
            </a:r>
            <a:br>
              <a:rPr lang="en-US" sz="3200" b="0" i="0" dirty="0">
                <a:solidFill>
                  <a:srgbClr val="2D3B45"/>
                </a:solidFill>
                <a:effectLst/>
              </a:rPr>
            </a:br>
            <a:endParaRPr lang="tr-TR" sz="3200" dirty="0"/>
          </a:p>
        </p:txBody>
      </p:sp>
      <p:sp>
        <p:nvSpPr>
          <p:cNvPr id="3" name="Alt Başlık 2">
            <a:extLst>
              <a:ext uri="{FF2B5EF4-FFF2-40B4-BE49-F238E27FC236}">
                <a16:creationId xmlns:a16="http://schemas.microsoft.com/office/drawing/2014/main" id="{BDF4D5C0-298A-EA6C-9F61-FB7FB25F0249}"/>
              </a:ext>
            </a:extLst>
          </p:cNvPr>
          <p:cNvSpPr>
            <a:spLocks noGrp="1"/>
          </p:cNvSpPr>
          <p:nvPr>
            <p:ph type="subTitle" idx="1"/>
          </p:nvPr>
        </p:nvSpPr>
        <p:spPr>
          <a:xfrm>
            <a:off x="2630077" y="4688313"/>
            <a:ext cx="6931843" cy="544397"/>
          </a:xfrm>
        </p:spPr>
        <p:txBody>
          <a:bodyPr>
            <a:normAutofit/>
          </a:bodyPr>
          <a:lstStyle/>
          <a:p>
            <a:r>
              <a:rPr lang="tr-TR" sz="2000" dirty="0"/>
              <a:t>Dilara </a:t>
            </a:r>
            <a:r>
              <a:rPr lang="tr-TR" sz="2000" dirty="0" err="1"/>
              <a:t>Alkanalka</a:t>
            </a:r>
            <a:r>
              <a:rPr lang="tr-TR" sz="2000" dirty="0"/>
              <a:t> 50251145</a:t>
            </a:r>
          </a:p>
        </p:txBody>
      </p:sp>
    </p:spTree>
    <p:extLst>
      <p:ext uri="{BB962C8B-B14F-4D97-AF65-F5344CB8AC3E}">
        <p14:creationId xmlns:p14="http://schemas.microsoft.com/office/powerpoint/2010/main" val="2319701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8C7EBE2-0744-8A99-62E1-A3172071CA00}"/>
              </a:ext>
            </a:extLst>
          </p:cNvPr>
          <p:cNvSpPr>
            <a:spLocks noGrp="1"/>
          </p:cNvSpPr>
          <p:nvPr>
            <p:ph idx="1"/>
          </p:nvPr>
        </p:nvSpPr>
        <p:spPr>
          <a:xfrm>
            <a:off x="282019" y="309972"/>
            <a:ext cx="4469091" cy="2567266"/>
          </a:xfrm>
        </p:spPr>
        <p:txBody>
          <a:bodyPr>
            <a:normAutofit/>
          </a:bodyPr>
          <a:lstStyle/>
          <a:p>
            <a:pPr marL="0" indent="0">
              <a:buNone/>
            </a:pPr>
            <a:r>
              <a:rPr lang="tr-TR" sz="2400" dirty="0"/>
              <a:t>First </a:t>
            </a:r>
            <a:r>
              <a:rPr lang="tr-TR" sz="2400" dirty="0" err="1"/>
              <a:t>steps</a:t>
            </a:r>
            <a:r>
              <a:rPr lang="tr-TR" sz="2400" dirty="0"/>
              <a:t> (</a:t>
            </a:r>
            <a:r>
              <a:rPr lang="tr-TR" sz="2400" dirty="0" err="1"/>
              <a:t>my</a:t>
            </a:r>
            <a:r>
              <a:rPr lang="tr-TR" sz="2400" dirty="0"/>
              <a:t> data </a:t>
            </a:r>
            <a:r>
              <a:rPr lang="tr-TR" sz="2400" dirty="0" err="1"/>
              <a:t>collection</a:t>
            </a:r>
            <a:r>
              <a:rPr lang="tr-TR" sz="2400" dirty="0"/>
              <a:t> </a:t>
            </a:r>
            <a:r>
              <a:rPr lang="tr-TR" sz="2400" dirty="0" err="1"/>
              <a:t>was</a:t>
            </a:r>
            <a:r>
              <a:rPr lang="tr-TR" sz="2400" dirty="0"/>
              <a:t> </a:t>
            </a:r>
            <a:r>
              <a:rPr lang="tr-TR" sz="2400" dirty="0" err="1"/>
              <a:t>about</a:t>
            </a:r>
            <a:r>
              <a:rPr lang="tr-TR" sz="2400" dirty="0"/>
              <a:t> </a:t>
            </a:r>
            <a:r>
              <a:rPr lang="tr-TR" sz="2400" dirty="0" err="1"/>
              <a:t>news</a:t>
            </a:r>
            <a:r>
              <a:rPr lang="tr-TR" sz="2400" dirty="0"/>
              <a:t> </a:t>
            </a:r>
            <a:r>
              <a:rPr lang="tr-TR" sz="2400" dirty="0" err="1"/>
              <a:t>articles</a:t>
            </a:r>
            <a:r>
              <a:rPr lang="tr-TR" sz="2400" dirty="0"/>
              <a:t>):</a:t>
            </a:r>
          </a:p>
          <a:p>
            <a:r>
              <a:rPr lang="tr-TR" sz="2400" dirty="0"/>
              <a:t>1-Some Basic </a:t>
            </a:r>
            <a:r>
              <a:rPr lang="tr-TR" sz="2400" dirty="0" err="1"/>
              <a:t>Preprocessing</a:t>
            </a:r>
            <a:endParaRPr lang="tr-TR" sz="2400" dirty="0"/>
          </a:p>
          <a:p>
            <a:r>
              <a:rPr lang="tr-TR" sz="2400" dirty="0"/>
              <a:t>2-Boolean Model Construction</a:t>
            </a:r>
          </a:p>
          <a:p>
            <a:r>
              <a:rPr lang="tr-TR" sz="2400" dirty="0"/>
              <a:t>3-Boolean </a:t>
            </a:r>
            <a:r>
              <a:rPr lang="tr-TR" sz="2400" dirty="0" err="1"/>
              <a:t>Retrieval</a:t>
            </a:r>
            <a:r>
              <a:rPr lang="tr-TR" sz="2400" dirty="0"/>
              <a:t>  </a:t>
            </a:r>
            <a:r>
              <a:rPr lang="tr-TR" sz="2400" dirty="0" err="1"/>
              <a:t>with</a:t>
            </a:r>
            <a:r>
              <a:rPr lang="tr-TR" sz="2400" dirty="0"/>
              <a:t> AND </a:t>
            </a:r>
            <a:r>
              <a:rPr lang="tr-TR" sz="2400" dirty="0" err="1"/>
              <a:t>logic</a:t>
            </a:r>
            <a:endParaRPr lang="tr-TR" sz="2400" dirty="0"/>
          </a:p>
        </p:txBody>
      </p:sp>
      <p:pic>
        <p:nvPicPr>
          <p:cNvPr id="5" name="Resim 4">
            <a:extLst>
              <a:ext uri="{FF2B5EF4-FFF2-40B4-BE49-F238E27FC236}">
                <a16:creationId xmlns:a16="http://schemas.microsoft.com/office/drawing/2014/main" id="{7F1B8CBB-5860-B303-2421-36D5A27EC119}"/>
              </a:ext>
            </a:extLst>
          </p:cNvPr>
          <p:cNvPicPr>
            <a:picLocks noChangeAspect="1"/>
          </p:cNvPicPr>
          <p:nvPr/>
        </p:nvPicPr>
        <p:blipFill>
          <a:blip r:embed="rId2"/>
          <a:srcRect r="33843"/>
          <a:stretch/>
        </p:blipFill>
        <p:spPr>
          <a:xfrm>
            <a:off x="4871939" y="805512"/>
            <a:ext cx="7038042" cy="1463167"/>
          </a:xfrm>
          <a:prstGeom prst="rect">
            <a:avLst/>
          </a:prstGeom>
        </p:spPr>
      </p:pic>
      <p:pic>
        <p:nvPicPr>
          <p:cNvPr id="7" name="Resim 6">
            <a:extLst>
              <a:ext uri="{FF2B5EF4-FFF2-40B4-BE49-F238E27FC236}">
                <a16:creationId xmlns:a16="http://schemas.microsoft.com/office/drawing/2014/main" id="{7DEBC9BE-2FDC-E6EA-1288-74BBF2A36B37}"/>
              </a:ext>
            </a:extLst>
          </p:cNvPr>
          <p:cNvPicPr>
            <a:picLocks noChangeAspect="1"/>
          </p:cNvPicPr>
          <p:nvPr/>
        </p:nvPicPr>
        <p:blipFill>
          <a:blip r:embed="rId3"/>
          <a:stretch>
            <a:fillRect/>
          </a:stretch>
        </p:blipFill>
        <p:spPr>
          <a:xfrm>
            <a:off x="121633" y="3065774"/>
            <a:ext cx="5643021" cy="2694003"/>
          </a:xfrm>
          <a:prstGeom prst="rect">
            <a:avLst/>
          </a:prstGeom>
        </p:spPr>
      </p:pic>
      <p:pic>
        <p:nvPicPr>
          <p:cNvPr id="9" name="Resim 8">
            <a:extLst>
              <a:ext uri="{FF2B5EF4-FFF2-40B4-BE49-F238E27FC236}">
                <a16:creationId xmlns:a16="http://schemas.microsoft.com/office/drawing/2014/main" id="{0E32EF25-8DC1-92E6-1C99-BEC9E8962AC0}"/>
              </a:ext>
            </a:extLst>
          </p:cNvPr>
          <p:cNvPicPr>
            <a:picLocks noChangeAspect="1"/>
          </p:cNvPicPr>
          <p:nvPr/>
        </p:nvPicPr>
        <p:blipFill>
          <a:blip r:embed="rId4"/>
          <a:stretch>
            <a:fillRect/>
          </a:stretch>
        </p:blipFill>
        <p:spPr>
          <a:xfrm>
            <a:off x="5868478" y="2877238"/>
            <a:ext cx="6201889" cy="3403025"/>
          </a:xfrm>
          <a:prstGeom prst="rect">
            <a:avLst/>
          </a:prstGeom>
        </p:spPr>
      </p:pic>
    </p:spTree>
    <p:extLst>
      <p:ext uri="{BB962C8B-B14F-4D97-AF65-F5344CB8AC3E}">
        <p14:creationId xmlns:p14="http://schemas.microsoft.com/office/powerpoint/2010/main" val="129135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2B7190A-6E56-4855-F5B0-481B9FE6A402}"/>
              </a:ext>
            </a:extLst>
          </p:cNvPr>
          <p:cNvSpPr>
            <a:spLocks noGrp="1"/>
          </p:cNvSpPr>
          <p:nvPr>
            <p:ph idx="1"/>
          </p:nvPr>
        </p:nvSpPr>
        <p:spPr>
          <a:xfrm>
            <a:off x="378304" y="336886"/>
            <a:ext cx="10515600" cy="710185"/>
          </a:xfrm>
        </p:spPr>
        <p:txBody>
          <a:bodyPr>
            <a:normAutofit fontScale="92500"/>
          </a:bodyPr>
          <a:lstStyle/>
          <a:p>
            <a:pPr marL="0" indent="0">
              <a:buNone/>
            </a:pPr>
            <a:r>
              <a:rPr lang="tr-TR" sz="2600" dirty="0"/>
              <a:t>As an </a:t>
            </a:r>
            <a:r>
              <a:rPr lang="tr-TR" sz="2600" dirty="0" err="1"/>
              <a:t>example</a:t>
            </a:r>
            <a:r>
              <a:rPr lang="tr-TR" sz="2600" dirty="0"/>
              <a:t>, </a:t>
            </a:r>
            <a:r>
              <a:rPr lang="tr-TR" sz="2600" dirty="0" err="1"/>
              <a:t>if</a:t>
            </a:r>
            <a:r>
              <a:rPr lang="tr-TR" sz="2600" dirty="0"/>
              <a:t> </a:t>
            </a:r>
            <a:r>
              <a:rPr lang="tr-TR" sz="2600" dirty="0" err="1"/>
              <a:t>we</a:t>
            </a:r>
            <a:r>
              <a:rPr lang="tr-TR" sz="2600" dirty="0"/>
              <a:t> </a:t>
            </a:r>
            <a:r>
              <a:rPr lang="tr-TR" sz="2600" dirty="0" err="1"/>
              <a:t>enter</a:t>
            </a:r>
            <a:r>
              <a:rPr lang="tr-TR" sz="2600" dirty="0"/>
              <a:t> ‘</a:t>
            </a:r>
            <a:r>
              <a:rPr lang="tr-TR" sz="2600" dirty="0" err="1"/>
              <a:t>president</a:t>
            </a:r>
            <a:r>
              <a:rPr lang="tr-TR" sz="2600" dirty="0"/>
              <a:t> </a:t>
            </a:r>
            <a:r>
              <a:rPr lang="tr-TR" sz="2600" dirty="0" err="1"/>
              <a:t>election</a:t>
            </a:r>
            <a:r>
              <a:rPr lang="tr-TR" sz="2600" dirty="0"/>
              <a:t>’ as a </a:t>
            </a:r>
            <a:r>
              <a:rPr lang="tr-TR" sz="2600" dirty="0" err="1"/>
              <a:t>query</a:t>
            </a:r>
            <a:r>
              <a:rPr lang="tr-TR" sz="2600" dirty="0"/>
              <a:t> the </a:t>
            </a:r>
            <a:r>
              <a:rPr lang="tr-TR" sz="2600" dirty="0" err="1"/>
              <a:t>output</a:t>
            </a:r>
            <a:r>
              <a:rPr lang="tr-TR" sz="2600" dirty="0"/>
              <a:t> </a:t>
            </a:r>
            <a:r>
              <a:rPr lang="tr-TR" sz="2600" dirty="0" err="1"/>
              <a:t>looks</a:t>
            </a:r>
            <a:r>
              <a:rPr lang="tr-TR" sz="2600" dirty="0"/>
              <a:t> </a:t>
            </a:r>
            <a:r>
              <a:rPr lang="tr-TR" sz="2600" dirty="0" err="1"/>
              <a:t>like</a:t>
            </a:r>
            <a:r>
              <a:rPr lang="tr-TR" sz="2600" dirty="0"/>
              <a:t> </a:t>
            </a:r>
            <a:r>
              <a:rPr lang="tr-TR" sz="2600" dirty="0" err="1"/>
              <a:t>this</a:t>
            </a:r>
            <a:r>
              <a:rPr lang="tr-TR" sz="2600" dirty="0"/>
              <a:t>:</a:t>
            </a:r>
          </a:p>
          <a:p>
            <a:pPr marL="0" indent="0">
              <a:buNone/>
            </a:pPr>
            <a:endParaRPr lang="tr-TR" dirty="0"/>
          </a:p>
        </p:txBody>
      </p:sp>
      <p:pic>
        <p:nvPicPr>
          <p:cNvPr id="5" name="Resim 4">
            <a:extLst>
              <a:ext uri="{FF2B5EF4-FFF2-40B4-BE49-F238E27FC236}">
                <a16:creationId xmlns:a16="http://schemas.microsoft.com/office/drawing/2014/main" id="{C5F60542-E65C-3D5E-FB20-8F15F5A69349}"/>
              </a:ext>
            </a:extLst>
          </p:cNvPr>
          <p:cNvPicPr>
            <a:picLocks noChangeAspect="1"/>
          </p:cNvPicPr>
          <p:nvPr/>
        </p:nvPicPr>
        <p:blipFill>
          <a:blip r:embed="rId2"/>
          <a:stretch>
            <a:fillRect/>
          </a:stretch>
        </p:blipFill>
        <p:spPr>
          <a:xfrm>
            <a:off x="289813" y="903295"/>
            <a:ext cx="10874682" cy="1226926"/>
          </a:xfrm>
          <a:prstGeom prst="rect">
            <a:avLst/>
          </a:prstGeom>
        </p:spPr>
      </p:pic>
      <p:pic>
        <p:nvPicPr>
          <p:cNvPr id="7" name="Resim 6">
            <a:extLst>
              <a:ext uri="{FF2B5EF4-FFF2-40B4-BE49-F238E27FC236}">
                <a16:creationId xmlns:a16="http://schemas.microsoft.com/office/drawing/2014/main" id="{189B196D-E7BD-9141-42D7-F034F8920BB9}"/>
              </a:ext>
            </a:extLst>
          </p:cNvPr>
          <p:cNvPicPr>
            <a:picLocks noChangeAspect="1"/>
          </p:cNvPicPr>
          <p:nvPr/>
        </p:nvPicPr>
        <p:blipFill>
          <a:blip r:embed="rId3"/>
          <a:stretch>
            <a:fillRect/>
          </a:stretch>
        </p:blipFill>
        <p:spPr>
          <a:xfrm>
            <a:off x="278971" y="3045592"/>
            <a:ext cx="4734801" cy="937766"/>
          </a:xfrm>
          <a:prstGeom prst="rect">
            <a:avLst/>
          </a:prstGeom>
        </p:spPr>
      </p:pic>
      <p:sp>
        <p:nvSpPr>
          <p:cNvPr id="8" name="Metin kutusu 7">
            <a:extLst>
              <a:ext uri="{FF2B5EF4-FFF2-40B4-BE49-F238E27FC236}">
                <a16:creationId xmlns:a16="http://schemas.microsoft.com/office/drawing/2014/main" id="{46B8FD92-D6FF-E958-239B-FA2540C01F37}"/>
              </a:ext>
            </a:extLst>
          </p:cNvPr>
          <p:cNvSpPr txBox="1"/>
          <p:nvPr/>
        </p:nvSpPr>
        <p:spPr>
          <a:xfrm>
            <a:off x="278971" y="2442529"/>
            <a:ext cx="7203960" cy="461665"/>
          </a:xfrm>
          <a:prstGeom prst="rect">
            <a:avLst/>
          </a:prstGeom>
          <a:noFill/>
        </p:spPr>
        <p:txBody>
          <a:bodyPr wrap="none" rtlCol="0">
            <a:spAutoFit/>
          </a:bodyPr>
          <a:lstStyle/>
          <a:p>
            <a:r>
              <a:rPr lang="tr-TR" sz="2400" dirty="0" err="1"/>
              <a:t>If</a:t>
            </a:r>
            <a:r>
              <a:rPr lang="tr-TR" sz="2400" dirty="0"/>
              <a:t> </a:t>
            </a:r>
            <a:r>
              <a:rPr lang="tr-TR" sz="2400" dirty="0" err="1"/>
              <a:t>we</a:t>
            </a:r>
            <a:r>
              <a:rPr lang="tr-TR" sz="2400" dirty="0"/>
              <a:t> </a:t>
            </a:r>
            <a:r>
              <a:rPr lang="tr-TR" sz="2400" dirty="0" err="1"/>
              <a:t>enter</a:t>
            </a:r>
            <a:r>
              <a:rPr lang="tr-TR" sz="2400" dirty="0"/>
              <a:t> ‘ </a:t>
            </a:r>
            <a:r>
              <a:rPr lang="tr-TR" sz="2400" dirty="0" err="1"/>
              <a:t>wildfire</a:t>
            </a:r>
            <a:r>
              <a:rPr lang="tr-TR" sz="2400" dirty="0"/>
              <a:t>’ as the </a:t>
            </a:r>
            <a:r>
              <a:rPr lang="tr-TR" sz="2400" dirty="0" err="1"/>
              <a:t>query</a:t>
            </a:r>
            <a:r>
              <a:rPr lang="tr-TR" sz="2400" dirty="0"/>
              <a:t> </a:t>
            </a:r>
            <a:r>
              <a:rPr lang="tr-TR" sz="2400" dirty="0" err="1"/>
              <a:t>output</a:t>
            </a:r>
            <a:r>
              <a:rPr lang="tr-TR" sz="2400" dirty="0"/>
              <a:t> </a:t>
            </a:r>
            <a:r>
              <a:rPr lang="tr-TR" sz="2400" dirty="0" err="1"/>
              <a:t>looks</a:t>
            </a:r>
            <a:r>
              <a:rPr lang="tr-TR" sz="2400" dirty="0"/>
              <a:t> </a:t>
            </a:r>
            <a:r>
              <a:rPr lang="tr-TR" sz="2400" dirty="0" err="1"/>
              <a:t>like</a:t>
            </a:r>
            <a:r>
              <a:rPr lang="tr-TR" sz="2400" dirty="0"/>
              <a:t> </a:t>
            </a:r>
            <a:r>
              <a:rPr lang="tr-TR" sz="2400" dirty="0" err="1"/>
              <a:t>this</a:t>
            </a:r>
            <a:r>
              <a:rPr lang="tr-TR" sz="2400" dirty="0"/>
              <a:t>: </a:t>
            </a:r>
          </a:p>
        </p:txBody>
      </p:sp>
      <p:sp>
        <p:nvSpPr>
          <p:cNvPr id="9" name="Metin kutusu 8">
            <a:extLst>
              <a:ext uri="{FF2B5EF4-FFF2-40B4-BE49-F238E27FC236}">
                <a16:creationId xmlns:a16="http://schemas.microsoft.com/office/drawing/2014/main" id="{D6774A94-E43B-26F3-0274-EEAEC58A03D2}"/>
              </a:ext>
            </a:extLst>
          </p:cNvPr>
          <p:cNvSpPr txBox="1"/>
          <p:nvPr/>
        </p:nvSpPr>
        <p:spPr>
          <a:xfrm>
            <a:off x="378303" y="4305438"/>
            <a:ext cx="5501387" cy="1569660"/>
          </a:xfrm>
          <a:prstGeom prst="rect">
            <a:avLst/>
          </a:prstGeom>
          <a:noFill/>
        </p:spPr>
        <p:txBody>
          <a:bodyPr wrap="square" rtlCol="0">
            <a:spAutoFit/>
          </a:bodyPr>
          <a:lstStyle/>
          <a:p>
            <a:r>
              <a:rPr lang="tr-TR" sz="2400" dirty="0"/>
              <a:t>The artc1.txt is </a:t>
            </a:r>
            <a:r>
              <a:rPr lang="tr-TR" sz="2400" dirty="0" err="1"/>
              <a:t>indeed</a:t>
            </a:r>
            <a:r>
              <a:rPr lang="tr-TR" sz="2400" dirty="0"/>
              <a:t> </a:t>
            </a:r>
            <a:r>
              <a:rPr lang="tr-TR" sz="2400" dirty="0" err="1"/>
              <a:t>about</a:t>
            </a:r>
            <a:r>
              <a:rPr lang="tr-TR" sz="2400" dirty="0"/>
              <a:t> the </a:t>
            </a:r>
            <a:r>
              <a:rPr lang="tr-TR" sz="2400" dirty="0" err="1"/>
              <a:t>news</a:t>
            </a:r>
            <a:r>
              <a:rPr lang="tr-TR" sz="2400" dirty="0"/>
              <a:t> of </a:t>
            </a:r>
            <a:r>
              <a:rPr lang="tr-TR" sz="2400" dirty="0" err="1"/>
              <a:t>wildfires</a:t>
            </a:r>
            <a:r>
              <a:rPr lang="tr-TR" sz="2400" dirty="0"/>
              <a:t>, </a:t>
            </a:r>
            <a:r>
              <a:rPr lang="tr-TR" sz="2400" dirty="0">
                <a:sym typeface="Wingdings" panose="05000000000000000000" pitchFamily="2" charset="2"/>
              </a:rPr>
              <a:t></a:t>
            </a:r>
            <a:r>
              <a:rPr lang="tr-TR" sz="2400" dirty="0"/>
              <a:t>                          </a:t>
            </a:r>
          </a:p>
          <a:p>
            <a:r>
              <a:rPr lang="tr-TR" sz="2400" dirty="0"/>
              <a:t>I </a:t>
            </a:r>
            <a:r>
              <a:rPr lang="tr-TR" sz="2400" dirty="0" err="1"/>
              <a:t>will</a:t>
            </a:r>
            <a:r>
              <a:rPr lang="tr-TR" sz="2400" dirty="0"/>
              <a:t> </a:t>
            </a:r>
            <a:r>
              <a:rPr lang="tr-TR" sz="2400" dirty="0" err="1"/>
              <a:t>show</a:t>
            </a:r>
            <a:r>
              <a:rPr lang="tr-TR" sz="2400" dirty="0"/>
              <a:t> </a:t>
            </a:r>
            <a:r>
              <a:rPr lang="tr-TR" sz="2400" dirty="0" err="1"/>
              <a:t>more</a:t>
            </a:r>
            <a:r>
              <a:rPr lang="tr-TR" sz="2400" dirty="0"/>
              <a:t> </a:t>
            </a:r>
            <a:r>
              <a:rPr lang="tr-TR" sz="2400" dirty="0" err="1"/>
              <a:t>details</a:t>
            </a:r>
            <a:r>
              <a:rPr lang="tr-TR" sz="2400" dirty="0"/>
              <a:t> </a:t>
            </a:r>
            <a:r>
              <a:rPr lang="tr-TR" sz="2400" dirty="0" err="1"/>
              <a:t>about</a:t>
            </a:r>
            <a:r>
              <a:rPr lang="tr-TR" sz="2400" dirty="0"/>
              <a:t> </a:t>
            </a:r>
            <a:r>
              <a:rPr lang="tr-TR" sz="2400" dirty="0" err="1"/>
              <a:t>relevance</a:t>
            </a:r>
            <a:r>
              <a:rPr lang="tr-TR" sz="2400" dirty="0"/>
              <a:t> in </a:t>
            </a:r>
            <a:r>
              <a:rPr lang="tr-TR" sz="2400" dirty="0" err="1"/>
              <a:t>later</a:t>
            </a:r>
            <a:r>
              <a:rPr lang="tr-TR" sz="2400" dirty="0"/>
              <a:t> </a:t>
            </a:r>
            <a:r>
              <a:rPr lang="tr-TR" sz="2400" dirty="0" err="1"/>
              <a:t>slides</a:t>
            </a:r>
            <a:endParaRPr lang="tr-TR" sz="2400" dirty="0"/>
          </a:p>
        </p:txBody>
      </p:sp>
      <p:pic>
        <p:nvPicPr>
          <p:cNvPr id="11" name="Resim 10">
            <a:extLst>
              <a:ext uri="{FF2B5EF4-FFF2-40B4-BE49-F238E27FC236}">
                <a16:creationId xmlns:a16="http://schemas.microsoft.com/office/drawing/2014/main" id="{E37E5DB4-AC2D-761F-79CD-8BCC6F681CB0}"/>
              </a:ext>
            </a:extLst>
          </p:cNvPr>
          <p:cNvPicPr>
            <a:picLocks noChangeAspect="1"/>
          </p:cNvPicPr>
          <p:nvPr/>
        </p:nvPicPr>
        <p:blipFill>
          <a:blip r:embed="rId4"/>
          <a:stretch>
            <a:fillRect/>
          </a:stretch>
        </p:blipFill>
        <p:spPr>
          <a:xfrm>
            <a:off x="6664751" y="3000200"/>
            <a:ext cx="4863539" cy="3417792"/>
          </a:xfrm>
          <a:prstGeom prst="rect">
            <a:avLst/>
          </a:prstGeom>
        </p:spPr>
      </p:pic>
      <p:sp>
        <p:nvSpPr>
          <p:cNvPr id="14" name="Metin kutusu 13">
            <a:extLst>
              <a:ext uri="{FF2B5EF4-FFF2-40B4-BE49-F238E27FC236}">
                <a16:creationId xmlns:a16="http://schemas.microsoft.com/office/drawing/2014/main" id="{9B2EE793-7EB7-6366-94FE-B86C525F5423}"/>
              </a:ext>
            </a:extLst>
          </p:cNvPr>
          <p:cNvSpPr txBox="1"/>
          <p:nvPr/>
        </p:nvSpPr>
        <p:spPr>
          <a:xfrm>
            <a:off x="8894121" y="6416607"/>
            <a:ext cx="1327356" cy="383408"/>
          </a:xfrm>
          <a:prstGeom prst="rect">
            <a:avLst/>
          </a:prstGeom>
          <a:noFill/>
        </p:spPr>
        <p:txBody>
          <a:bodyPr wrap="square" rtlCol="0">
            <a:spAutoFit/>
          </a:bodyPr>
          <a:lstStyle/>
          <a:p>
            <a:r>
              <a:rPr lang="tr-TR" dirty="0"/>
              <a:t>artc1.txt</a:t>
            </a:r>
          </a:p>
        </p:txBody>
      </p:sp>
    </p:spTree>
    <p:extLst>
      <p:ext uri="{BB962C8B-B14F-4D97-AF65-F5344CB8AC3E}">
        <p14:creationId xmlns:p14="http://schemas.microsoft.com/office/powerpoint/2010/main" val="2969788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A1A5479-3499-186B-682A-7BB681839EBC}"/>
              </a:ext>
            </a:extLst>
          </p:cNvPr>
          <p:cNvSpPr>
            <a:spLocks noGrp="1"/>
          </p:cNvSpPr>
          <p:nvPr>
            <p:ph idx="1"/>
          </p:nvPr>
        </p:nvSpPr>
        <p:spPr>
          <a:xfrm>
            <a:off x="640238" y="757221"/>
            <a:ext cx="10515600" cy="2463571"/>
          </a:xfrm>
        </p:spPr>
        <p:txBody>
          <a:bodyPr>
            <a:normAutofit/>
          </a:bodyPr>
          <a:lstStyle/>
          <a:p>
            <a:pPr marL="0" indent="0">
              <a:buNone/>
            </a:pPr>
            <a:r>
              <a:rPr lang="tr-TR" sz="2400" dirty="0" err="1"/>
              <a:t>Then</a:t>
            </a:r>
            <a:r>
              <a:rPr lang="tr-TR" sz="2400" dirty="0"/>
              <a:t> I </a:t>
            </a:r>
            <a:r>
              <a:rPr lang="tr-TR" sz="2400" dirty="0" err="1"/>
              <a:t>adjusted</a:t>
            </a:r>
            <a:r>
              <a:rPr lang="tr-TR" sz="2400" dirty="0"/>
              <a:t> the </a:t>
            </a:r>
            <a:r>
              <a:rPr lang="tr-TR" sz="2400" dirty="0" err="1"/>
              <a:t>code</a:t>
            </a:r>
            <a:r>
              <a:rPr lang="tr-TR" sz="2400" dirty="0"/>
              <a:t> </a:t>
            </a:r>
            <a:r>
              <a:rPr lang="tr-TR" sz="2400" dirty="0" err="1"/>
              <a:t>to</a:t>
            </a:r>
            <a:r>
              <a:rPr lang="tr-TR" sz="2400" dirty="0"/>
              <a:t> </a:t>
            </a:r>
            <a:r>
              <a:rPr lang="tr-TR" sz="2400" dirty="0" err="1"/>
              <a:t>take</a:t>
            </a:r>
            <a:r>
              <a:rPr lang="tr-TR" sz="2400" dirty="0"/>
              <a:t> the </a:t>
            </a:r>
            <a:r>
              <a:rPr lang="tr-TR" sz="2400" dirty="0" err="1"/>
              <a:t>query</a:t>
            </a:r>
            <a:r>
              <a:rPr lang="tr-TR" sz="2400" dirty="0"/>
              <a:t> as a </a:t>
            </a:r>
            <a:r>
              <a:rPr lang="tr-TR" sz="2400" dirty="0" err="1"/>
              <a:t>user</a:t>
            </a:r>
            <a:r>
              <a:rPr lang="tr-TR" sz="2400" dirty="0"/>
              <a:t> </a:t>
            </a:r>
            <a:r>
              <a:rPr lang="tr-TR" sz="2400" dirty="0" err="1"/>
              <a:t>input</a:t>
            </a:r>
            <a:r>
              <a:rPr lang="tr-TR" sz="2400" dirty="0"/>
              <a:t> for </a:t>
            </a:r>
            <a:r>
              <a:rPr lang="tr-TR" sz="2400" dirty="0" err="1"/>
              <a:t>dynamical</a:t>
            </a:r>
            <a:r>
              <a:rPr lang="tr-TR" sz="2400" dirty="0"/>
              <a:t> </a:t>
            </a:r>
            <a:r>
              <a:rPr lang="tr-TR" sz="2400" dirty="0" err="1"/>
              <a:t>query</a:t>
            </a:r>
            <a:r>
              <a:rPr lang="tr-TR" sz="2400" dirty="0"/>
              <a:t> </a:t>
            </a:r>
            <a:r>
              <a:rPr lang="tr-TR" sz="2400" dirty="0" err="1"/>
              <a:t>search</a:t>
            </a:r>
            <a:r>
              <a:rPr lang="tr-TR" sz="2400" dirty="0"/>
              <a:t>.</a:t>
            </a:r>
          </a:p>
          <a:p>
            <a:pPr marL="0" indent="0">
              <a:buNone/>
            </a:pPr>
            <a:r>
              <a:rPr lang="tr-TR" sz="2400" dirty="0" err="1"/>
              <a:t>This</a:t>
            </a:r>
            <a:r>
              <a:rPr lang="tr-TR" sz="2400" dirty="0"/>
              <a:t> </a:t>
            </a:r>
            <a:r>
              <a:rPr lang="tr-TR" sz="2400" dirty="0" err="1"/>
              <a:t>code</a:t>
            </a:r>
            <a:r>
              <a:rPr lang="tr-TR" sz="2400" dirty="0"/>
              <a:t> </a:t>
            </a:r>
            <a:r>
              <a:rPr lang="tr-TR" sz="2400" dirty="0" err="1"/>
              <a:t>also</a:t>
            </a:r>
            <a:r>
              <a:rPr lang="tr-TR" sz="2400" dirty="0"/>
              <a:t> </a:t>
            </a:r>
            <a:r>
              <a:rPr lang="tr-TR" sz="2400" dirty="0" err="1"/>
              <a:t>calculates</a:t>
            </a:r>
            <a:r>
              <a:rPr lang="tr-TR" sz="2400" dirty="0"/>
              <a:t> the </a:t>
            </a:r>
            <a:r>
              <a:rPr lang="tr-TR" sz="2400" dirty="0" err="1"/>
              <a:t>precision</a:t>
            </a:r>
            <a:r>
              <a:rPr lang="tr-TR" sz="2400" dirty="0"/>
              <a:t> </a:t>
            </a:r>
            <a:r>
              <a:rPr lang="tr-TR" sz="2400" dirty="0" err="1"/>
              <a:t>and</a:t>
            </a:r>
            <a:r>
              <a:rPr lang="tr-TR" sz="2400" dirty="0"/>
              <a:t> </a:t>
            </a:r>
            <a:r>
              <a:rPr lang="tr-TR" sz="2400" dirty="0" err="1"/>
              <a:t>recall</a:t>
            </a:r>
            <a:r>
              <a:rPr lang="tr-TR" sz="2400" dirty="0"/>
              <a:t> but it </a:t>
            </a:r>
            <a:r>
              <a:rPr lang="tr-TR" sz="2400" dirty="0" err="1"/>
              <a:t>assumes</a:t>
            </a:r>
            <a:r>
              <a:rPr lang="tr-TR" sz="2400" dirty="0"/>
              <a:t> </a:t>
            </a:r>
            <a:r>
              <a:rPr lang="tr-TR" sz="2400" dirty="0" err="1"/>
              <a:t>all</a:t>
            </a:r>
            <a:r>
              <a:rPr lang="tr-TR" sz="2400" dirty="0"/>
              <a:t> the </a:t>
            </a:r>
            <a:r>
              <a:rPr lang="tr-TR" sz="2400" dirty="0" err="1"/>
              <a:t>texts</a:t>
            </a:r>
            <a:r>
              <a:rPr lang="tr-TR" sz="2400" dirty="0"/>
              <a:t> </a:t>
            </a:r>
            <a:r>
              <a:rPr lang="tr-TR" sz="2400" dirty="0" err="1"/>
              <a:t>that</a:t>
            </a:r>
            <a:r>
              <a:rPr lang="tr-TR" sz="2400" dirty="0"/>
              <a:t> </a:t>
            </a:r>
            <a:r>
              <a:rPr lang="tr-TR" sz="2400" dirty="0" err="1"/>
              <a:t>have</a:t>
            </a:r>
            <a:r>
              <a:rPr lang="tr-TR" sz="2400" dirty="0"/>
              <a:t> the </a:t>
            </a:r>
            <a:r>
              <a:rPr lang="tr-TR" sz="2400" dirty="0" err="1"/>
              <a:t>query</a:t>
            </a:r>
            <a:r>
              <a:rPr lang="tr-TR" sz="2400" dirty="0"/>
              <a:t> </a:t>
            </a:r>
            <a:r>
              <a:rPr lang="tr-TR" sz="2400" dirty="0" err="1"/>
              <a:t>are</a:t>
            </a:r>
            <a:r>
              <a:rPr lang="tr-TR" sz="2400" dirty="0"/>
              <a:t> </a:t>
            </a:r>
            <a:r>
              <a:rPr lang="tr-TR" sz="2400" dirty="0" err="1"/>
              <a:t>relevant</a:t>
            </a:r>
            <a:r>
              <a:rPr lang="tr-TR" sz="2400" dirty="0"/>
              <a:t> </a:t>
            </a:r>
            <a:r>
              <a:rPr lang="tr-TR" sz="2400" dirty="0" err="1"/>
              <a:t>which</a:t>
            </a:r>
            <a:r>
              <a:rPr lang="tr-TR" sz="2400" dirty="0"/>
              <a:t> is not </a:t>
            </a:r>
            <a:r>
              <a:rPr lang="tr-TR" sz="2400" dirty="0" err="1"/>
              <a:t>always</a:t>
            </a:r>
            <a:r>
              <a:rPr lang="tr-TR" sz="2400" dirty="0"/>
              <a:t> the </a:t>
            </a:r>
            <a:r>
              <a:rPr lang="tr-TR" sz="2400" dirty="0" err="1"/>
              <a:t>case</a:t>
            </a:r>
            <a:r>
              <a:rPr lang="tr-TR" sz="2400" dirty="0"/>
              <a:t>.</a:t>
            </a:r>
          </a:p>
        </p:txBody>
      </p:sp>
      <p:pic>
        <p:nvPicPr>
          <p:cNvPr id="5" name="Resim 4">
            <a:extLst>
              <a:ext uri="{FF2B5EF4-FFF2-40B4-BE49-F238E27FC236}">
                <a16:creationId xmlns:a16="http://schemas.microsoft.com/office/drawing/2014/main" id="{1D47EB2C-18A6-6D5C-A77A-5AB31390BB53}"/>
              </a:ext>
            </a:extLst>
          </p:cNvPr>
          <p:cNvPicPr>
            <a:picLocks noChangeAspect="1"/>
          </p:cNvPicPr>
          <p:nvPr/>
        </p:nvPicPr>
        <p:blipFill>
          <a:blip r:embed="rId2"/>
          <a:stretch>
            <a:fillRect/>
          </a:stretch>
        </p:blipFill>
        <p:spPr>
          <a:xfrm>
            <a:off x="2272620" y="2535474"/>
            <a:ext cx="6872012" cy="3357915"/>
          </a:xfrm>
          <a:prstGeom prst="rect">
            <a:avLst/>
          </a:prstGeom>
        </p:spPr>
      </p:pic>
    </p:spTree>
    <p:extLst>
      <p:ext uri="{BB962C8B-B14F-4D97-AF65-F5344CB8AC3E}">
        <p14:creationId xmlns:p14="http://schemas.microsoft.com/office/powerpoint/2010/main" val="3850677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878E06E-D17F-D244-2D94-24E44709B65F}"/>
              </a:ext>
            </a:extLst>
          </p:cNvPr>
          <p:cNvSpPr>
            <a:spLocks noGrp="1"/>
          </p:cNvSpPr>
          <p:nvPr>
            <p:ph idx="1"/>
          </p:nvPr>
        </p:nvSpPr>
        <p:spPr>
          <a:xfrm>
            <a:off x="310299" y="414780"/>
            <a:ext cx="11397792" cy="6202837"/>
          </a:xfrm>
        </p:spPr>
        <p:txBody>
          <a:bodyPr>
            <a:normAutofit/>
          </a:bodyPr>
          <a:lstStyle/>
          <a:p>
            <a:pPr marL="0" indent="0">
              <a:buNone/>
            </a:pPr>
            <a:r>
              <a:rPr lang="tr-TR" sz="2400" dirty="0" err="1"/>
              <a:t>To</a:t>
            </a:r>
            <a:r>
              <a:rPr lang="tr-TR" sz="2400" dirty="0"/>
              <a:t> </a:t>
            </a:r>
            <a:r>
              <a:rPr lang="tr-TR" sz="2400" dirty="0" err="1"/>
              <a:t>determine</a:t>
            </a:r>
            <a:r>
              <a:rPr lang="tr-TR" sz="2400" dirty="0"/>
              <a:t> </a:t>
            </a:r>
            <a:r>
              <a:rPr lang="tr-TR" sz="2400" dirty="0" err="1"/>
              <a:t>precision</a:t>
            </a:r>
            <a:r>
              <a:rPr lang="tr-TR" sz="2400" dirty="0"/>
              <a:t> </a:t>
            </a:r>
            <a:r>
              <a:rPr lang="tr-TR" sz="2400" dirty="0" err="1"/>
              <a:t>and</a:t>
            </a:r>
            <a:r>
              <a:rPr lang="tr-TR" sz="2400" dirty="0"/>
              <a:t> </a:t>
            </a:r>
            <a:r>
              <a:rPr lang="tr-TR" sz="2400" dirty="0" err="1"/>
              <a:t>relevance</a:t>
            </a:r>
            <a:r>
              <a:rPr lang="tr-TR" sz="2400" dirty="0"/>
              <a:t> rate </a:t>
            </a:r>
            <a:r>
              <a:rPr lang="tr-TR" sz="2400" dirty="0" err="1"/>
              <a:t>better</a:t>
            </a:r>
            <a:r>
              <a:rPr lang="tr-TR" sz="2400" dirty="0"/>
              <a:t>, I </a:t>
            </a:r>
            <a:r>
              <a:rPr lang="tr-TR" sz="2400" dirty="0" err="1"/>
              <a:t>tried</a:t>
            </a:r>
            <a:r>
              <a:rPr lang="tr-TR" sz="2400" dirty="0"/>
              <a:t> </a:t>
            </a:r>
            <a:r>
              <a:rPr lang="tr-TR" sz="2400" dirty="0" err="1"/>
              <a:t>some</a:t>
            </a:r>
            <a:r>
              <a:rPr lang="tr-TR" sz="2400" dirty="0"/>
              <a:t> test </a:t>
            </a:r>
            <a:r>
              <a:rPr lang="tr-TR" sz="2400" dirty="0" err="1"/>
              <a:t>case</a:t>
            </a:r>
            <a:r>
              <a:rPr lang="tr-TR" sz="2400" dirty="0"/>
              <a:t> </a:t>
            </a:r>
            <a:r>
              <a:rPr lang="tr-TR" sz="2400" dirty="0" err="1"/>
              <a:t>queries</a:t>
            </a:r>
            <a:r>
              <a:rPr lang="tr-TR" sz="2400" dirty="0"/>
              <a:t> </a:t>
            </a:r>
            <a:r>
              <a:rPr lang="tr-TR" sz="2400" dirty="0" err="1"/>
              <a:t>and</a:t>
            </a:r>
            <a:r>
              <a:rPr lang="tr-TR" sz="2400" dirty="0"/>
              <a:t> </a:t>
            </a:r>
            <a:r>
              <a:rPr lang="tr-TR" sz="2400" dirty="0" err="1"/>
              <a:t>chacked</a:t>
            </a:r>
            <a:r>
              <a:rPr lang="tr-TR" sz="2400" dirty="0"/>
              <a:t> </a:t>
            </a:r>
            <a:r>
              <a:rPr lang="tr-TR" sz="2400" dirty="0" err="1"/>
              <a:t>whether</a:t>
            </a:r>
            <a:r>
              <a:rPr lang="tr-TR" sz="2400" dirty="0"/>
              <a:t> </a:t>
            </a:r>
            <a:r>
              <a:rPr lang="tr-TR" sz="2400" dirty="0" err="1"/>
              <a:t>those</a:t>
            </a:r>
            <a:r>
              <a:rPr lang="tr-TR" sz="2400" dirty="0"/>
              <a:t> </a:t>
            </a:r>
            <a:r>
              <a:rPr lang="tr-TR" sz="2400" dirty="0" err="1"/>
              <a:t>retrieved</a:t>
            </a:r>
            <a:r>
              <a:rPr lang="tr-TR" sz="2400" dirty="0"/>
              <a:t> </a:t>
            </a:r>
            <a:r>
              <a:rPr lang="tr-TR" sz="2400" dirty="0" err="1"/>
              <a:t>texts</a:t>
            </a:r>
            <a:r>
              <a:rPr lang="tr-TR" sz="2400" dirty="0"/>
              <a:t> </a:t>
            </a:r>
            <a:r>
              <a:rPr lang="tr-TR" sz="2400" dirty="0" err="1"/>
              <a:t>are</a:t>
            </a:r>
            <a:r>
              <a:rPr lang="tr-TR" sz="2400" dirty="0"/>
              <a:t> </a:t>
            </a:r>
            <a:r>
              <a:rPr lang="tr-TR" sz="2400" dirty="0" err="1"/>
              <a:t>actually</a:t>
            </a:r>
            <a:r>
              <a:rPr lang="tr-TR" sz="2400" dirty="0"/>
              <a:t> ‘</a:t>
            </a:r>
            <a:r>
              <a:rPr lang="tr-TR" sz="2400" dirty="0" err="1"/>
              <a:t>relevant</a:t>
            </a:r>
            <a:r>
              <a:rPr lang="tr-TR" sz="2400" dirty="0"/>
              <a:t>’ </a:t>
            </a:r>
            <a:r>
              <a:rPr lang="tr-TR" sz="2400" dirty="0" err="1"/>
              <a:t>by</a:t>
            </a:r>
            <a:r>
              <a:rPr lang="tr-TR" sz="2400" dirty="0"/>
              <a:t> </a:t>
            </a:r>
            <a:r>
              <a:rPr lang="tr-TR" sz="2400" dirty="0" err="1"/>
              <a:t>deciding</a:t>
            </a:r>
            <a:r>
              <a:rPr lang="tr-TR" sz="2400" dirty="0"/>
              <a:t> on a </a:t>
            </a:r>
            <a:r>
              <a:rPr lang="tr-TR" sz="2400" dirty="0" err="1"/>
              <a:t>relevant</a:t>
            </a:r>
            <a:r>
              <a:rPr lang="tr-TR" sz="2400" dirty="0"/>
              <a:t> data set </a:t>
            </a:r>
            <a:r>
              <a:rPr lang="tr-TR" sz="2400" dirty="0" err="1"/>
              <a:t>manually</a:t>
            </a:r>
            <a:r>
              <a:rPr lang="tr-TR" sz="2400" dirty="0"/>
              <a:t>.</a:t>
            </a:r>
          </a:p>
          <a:p>
            <a:pPr marL="0" indent="0">
              <a:buNone/>
            </a:pPr>
            <a:endParaRPr lang="tr-TR" sz="2400" dirty="0"/>
          </a:p>
          <a:p>
            <a:pPr marL="0" indent="0">
              <a:buNone/>
            </a:pPr>
            <a:endParaRPr lang="tr-TR" sz="2400" dirty="0"/>
          </a:p>
        </p:txBody>
      </p:sp>
      <p:pic>
        <p:nvPicPr>
          <p:cNvPr id="5" name="Resim 4">
            <a:extLst>
              <a:ext uri="{FF2B5EF4-FFF2-40B4-BE49-F238E27FC236}">
                <a16:creationId xmlns:a16="http://schemas.microsoft.com/office/drawing/2014/main" id="{3C49F4AF-FE97-CDCF-922E-874DF4DD4A90}"/>
              </a:ext>
            </a:extLst>
          </p:cNvPr>
          <p:cNvPicPr>
            <a:picLocks noChangeAspect="1"/>
          </p:cNvPicPr>
          <p:nvPr/>
        </p:nvPicPr>
        <p:blipFill>
          <a:blip r:embed="rId2"/>
          <a:stretch>
            <a:fillRect/>
          </a:stretch>
        </p:blipFill>
        <p:spPr>
          <a:xfrm>
            <a:off x="483909" y="1826783"/>
            <a:ext cx="6076937" cy="2659260"/>
          </a:xfrm>
          <a:prstGeom prst="rect">
            <a:avLst/>
          </a:prstGeom>
        </p:spPr>
      </p:pic>
      <p:sp>
        <p:nvSpPr>
          <p:cNvPr id="6" name="Metin kutusu 5">
            <a:extLst>
              <a:ext uri="{FF2B5EF4-FFF2-40B4-BE49-F238E27FC236}">
                <a16:creationId xmlns:a16="http://schemas.microsoft.com/office/drawing/2014/main" id="{8CDD895D-CE00-7BFD-A3CF-DF4150A13850}"/>
              </a:ext>
            </a:extLst>
          </p:cNvPr>
          <p:cNvSpPr txBox="1"/>
          <p:nvPr/>
        </p:nvSpPr>
        <p:spPr>
          <a:xfrm>
            <a:off x="6734456" y="2239609"/>
            <a:ext cx="4381943" cy="1569660"/>
          </a:xfrm>
          <a:prstGeom prst="rect">
            <a:avLst/>
          </a:prstGeom>
          <a:noFill/>
        </p:spPr>
        <p:txBody>
          <a:bodyPr wrap="square" rtlCol="0">
            <a:spAutoFit/>
          </a:bodyPr>
          <a:lstStyle/>
          <a:p>
            <a:r>
              <a:rPr lang="tr-TR" sz="2400" dirty="0" err="1"/>
              <a:t>In</a:t>
            </a:r>
            <a:r>
              <a:rPr lang="tr-TR" sz="2400" dirty="0"/>
              <a:t> </a:t>
            </a:r>
            <a:r>
              <a:rPr lang="tr-TR" sz="2400" dirty="0" err="1"/>
              <a:t>this</a:t>
            </a:r>
            <a:r>
              <a:rPr lang="tr-TR" sz="2400" dirty="0"/>
              <a:t> </a:t>
            </a:r>
            <a:r>
              <a:rPr lang="tr-TR" sz="2400" dirty="0" err="1"/>
              <a:t>case</a:t>
            </a:r>
            <a:r>
              <a:rPr lang="tr-TR" sz="2400" dirty="0"/>
              <a:t> since </a:t>
            </a:r>
            <a:r>
              <a:rPr lang="tr-TR" sz="2400" dirty="0" err="1"/>
              <a:t>there</a:t>
            </a:r>
            <a:r>
              <a:rPr lang="tr-TR" sz="2400" dirty="0"/>
              <a:t> is </a:t>
            </a:r>
            <a:r>
              <a:rPr lang="tr-TR" sz="2400" dirty="0" err="1"/>
              <a:t>only</a:t>
            </a:r>
            <a:r>
              <a:rPr lang="tr-TR" sz="2400" dirty="0"/>
              <a:t> </a:t>
            </a:r>
            <a:r>
              <a:rPr lang="tr-TR" sz="2400" dirty="0" err="1"/>
              <a:t>one</a:t>
            </a:r>
            <a:r>
              <a:rPr lang="tr-TR" sz="2400" dirty="0"/>
              <a:t> </a:t>
            </a:r>
            <a:r>
              <a:rPr lang="tr-TR" sz="2400" dirty="0" err="1"/>
              <a:t>article</a:t>
            </a:r>
            <a:r>
              <a:rPr lang="tr-TR" sz="2400" dirty="0"/>
              <a:t> </a:t>
            </a:r>
            <a:r>
              <a:rPr lang="tr-TR" sz="2400" dirty="0" err="1"/>
              <a:t>about</a:t>
            </a:r>
            <a:r>
              <a:rPr lang="tr-TR" sz="2400" dirty="0"/>
              <a:t> the </a:t>
            </a:r>
            <a:r>
              <a:rPr lang="tr-TR" sz="2400" dirty="0" err="1"/>
              <a:t>wildfires</a:t>
            </a:r>
            <a:r>
              <a:rPr lang="tr-TR" sz="2400" dirty="0"/>
              <a:t> </a:t>
            </a:r>
            <a:r>
              <a:rPr lang="tr-TR" sz="2400" dirty="0" err="1"/>
              <a:t>and</a:t>
            </a:r>
            <a:r>
              <a:rPr lang="tr-TR" sz="2400" dirty="0"/>
              <a:t> as I </a:t>
            </a:r>
            <a:r>
              <a:rPr lang="tr-TR" sz="2400" dirty="0" err="1"/>
              <a:t>showed</a:t>
            </a:r>
            <a:r>
              <a:rPr lang="tr-TR" sz="2400" dirty="0"/>
              <a:t> it is </a:t>
            </a:r>
            <a:r>
              <a:rPr lang="tr-TR" sz="2400" dirty="0" err="1"/>
              <a:t>relevant</a:t>
            </a:r>
            <a:r>
              <a:rPr lang="tr-TR" sz="2400" dirty="0"/>
              <a:t> </a:t>
            </a:r>
            <a:r>
              <a:rPr lang="tr-TR" sz="2400" dirty="0" err="1"/>
              <a:t>so</a:t>
            </a:r>
            <a:r>
              <a:rPr lang="tr-TR" sz="2400" dirty="0"/>
              <a:t> the </a:t>
            </a:r>
            <a:r>
              <a:rPr lang="tr-TR" sz="2400" dirty="0" err="1"/>
              <a:t>Precission</a:t>
            </a:r>
            <a:r>
              <a:rPr lang="tr-TR" sz="2400" dirty="0"/>
              <a:t> is 1.00</a:t>
            </a:r>
          </a:p>
        </p:txBody>
      </p:sp>
    </p:spTree>
    <p:extLst>
      <p:ext uri="{BB962C8B-B14F-4D97-AF65-F5344CB8AC3E}">
        <p14:creationId xmlns:p14="http://schemas.microsoft.com/office/powerpoint/2010/main" val="422836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E6627F9-5903-FE99-BFC4-2340167B2D70}"/>
              </a:ext>
            </a:extLst>
          </p:cNvPr>
          <p:cNvSpPr>
            <a:spLocks noGrp="1"/>
          </p:cNvSpPr>
          <p:nvPr>
            <p:ph idx="1"/>
          </p:nvPr>
        </p:nvSpPr>
        <p:spPr>
          <a:xfrm>
            <a:off x="219995" y="3721430"/>
            <a:ext cx="6685935" cy="3429001"/>
          </a:xfrm>
        </p:spPr>
        <p:txBody>
          <a:bodyPr>
            <a:normAutofit/>
          </a:bodyPr>
          <a:lstStyle/>
          <a:p>
            <a:pPr marL="0" indent="0">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found</a:t>
            </a:r>
            <a:r>
              <a:rPr lang="tr-TR" sz="2000" dirty="0"/>
              <a:t> </a:t>
            </a:r>
            <a:r>
              <a:rPr lang="tr-TR" sz="2000" dirty="0" err="1"/>
              <a:t>relevant</a:t>
            </a:r>
            <a:r>
              <a:rPr lang="tr-TR" sz="2000" dirty="0"/>
              <a:t>:</a:t>
            </a:r>
          </a:p>
          <a:p>
            <a:pPr marL="0" indent="0">
              <a:buNone/>
            </a:pPr>
            <a:r>
              <a:rPr lang="en-US" sz="1400" dirty="0"/>
              <a:t>Thousands turn out in </a:t>
            </a:r>
            <a:r>
              <a:rPr lang="tr-TR" sz="1400" dirty="0"/>
              <a:t>T</a:t>
            </a:r>
            <a:r>
              <a:rPr lang="en-US" sz="1400" dirty="0" err="1"/>
              <a:t>urkey</a:t>
            </a:r>
            <a:r>
              <a:rPr lang="en-US" sz="1400" dirty="0"/>
              <a:t> for protests after more than 1,400</a:t>
            </a:r>
            <a:r>
              <a:rPr lang="tr-TR" sz="1400" dirty="0"/>
              <a:t> a</a:t>
            </a:r>
            <a:r>
              <a:rPr lang="en-US" sz="1400" dirty="0" err="1"/>
              <a:t>rrests</a:t>
            </a:r>
            <a:endParaRPr lang="en-US" sz="1400" dirty="0"/>
          </a:p>
          <a:p>
            <a:pPr marL="0" indent="0">
              <a:buNone/>
            </a:pPr>
            <a:r>
              <a:rPr lang="en-US" sz="1400" dirty="0"/>
              <a:t>Turkey protests are about far more than fate of </a:t>
            </a:r>
            <a:r>
              <a:rPr lang="tr-TR" sz="1400" dirty="0"/>
              <a:t>I</a:t>
            </a:r>
            <a:r>
              <a:rPr lang="en-US" sz="1400" dirty="0" err="1"/>
              <a:t>stanbul's</a:t>
            </a:r>
            <a:r>
              <a:rPr lang="en-US" sz="1400" dirty="0"/>
              <a:t> mayor</a:t>
            </a:r>
            <a:endParaRPr lang="tr-TR" sz="1400" dirty="0"/>
          </a:p>
          <a:p>
            <a:pPr marL="0" indent="0">
              <a:buNone/>
            </a:pPr>
            <a:r>
              <a:rPr lang="en-US" sz="1400" dirty="0"/>
              <a:t>Turkey protests: sixth night of demonstrations as </a:t>
            </a:r>
            <a:r>
              <a:rPr lang="tr-TR" sz="1400" dirty="0"/>
              <a:t>E</a:t>
            </a:r>
            <a:r>
              <a:rPr lang="en-US" sz="1400" dirty="0" err="1"/>
              <a:t>rdogan</a:t>
            </a:r>
            <a:r>
              <a:rPr lang="en-US" sz="1400" dirty="0"/>
              <a:t> hits out at</a:t>
            </a:r>
            <a:r>
              <a:rPr lang="tr-TR" sz="1400" dirty="0"/>
              <a:t> u</a:t>
            </a:r>
            <a:r>
              <a:rPr lang="en-US" sz="1400" dirty="0" err="1"/>
              <a:t>nrest</a:t>
            </a:r>
            <a:endParaRPr lang="tr-TR" sz="1400" dirty="0"/>
          </a:p>
          <a:p>
            <a:pPr marL="0" indent="0">
              <a:buNone/>
            </a:pPr>
            <a:r>
              <a:rPr lang="en-US" sz="1400" dirty="0"/>
              <a:t>Serbia: government denies using 'sonic cannon' at protests</a:t>
            </a:r>
            <a:endParaRPr lang="tr-TR" sz="1400" dirty="0"/>
          </a:p>
          <a:p>
            <a:pPr marL="0" indent="0">
              <a:buNone/>
            </a:pPr>
            <a:r>
              <a:rPr lang="en-US" sz="1400" dirty="0"/>
              <a:t>Second night of protest breaks out in </a:t>
            </a:r>
            <a:r>
              <a:rPr lang="tr-TR" sz="1400" dirty="0"/>
              <a:t>I</a:t>
            </a:r>
            <a:r>
              <a:rPr lang="en-US" sz="1400" dirty="0" err="1"/>
              <a:t>stanbul</a:t>
            </a:r>
            <a:r>
              <a:rPr lang="en-US" sz="1400" dirty="0"/>
              <a:t> despite ban</a:t>
            </a:r>
            <a:endParaRPr lang="tr-TR" sz="1400" dirty="0"/>
          </a:p>
          <a:p>
            <a:pPr marL="0" indent="0">
              <a:buNone/>
            </a:pPr>
            <a:r>
              <a:rPr lang="en-US" sz="1400" dirty="0"/>
              <a:t>Columbia student protester sues </a:t>
            </a:r>
            <a:r>
              <a:rPr lang="tr-TR" sz="1400" dirty="0"/>
              <a:t>T</a:t>
            </a:r>
            <a:r>
              <a:rPr lang="en-US" sz="1400" dirty="0"/>
              <a:t>rump administration to stop</a:t>
            </a:r>
            <a:r>
              <a:rPr lang="tr-TR" sz="1400" dirty="0"/>
              <a:t> d</a:t>
            </a:r>
            <a:r>
              <a:rPr lang="en-US" sz="1400" dirty="0" err="1"/>
              <a:t>eportation</a:t>
            </a:r>
            <a:endParaRPr lang="tr-TR" sz="1400" dirty="0"/>
          </a:p>
          <a:p>
            <a:pPr marL="0" indent="0">
              <a:buNone/>
            </a:pPr>
            <a:r>
              <a:rPr lang="en-US" sz="1400" dirty="0"/>
              <a:t>Turkey protests: why thousands are protesting </a:t>
            </a:r>
            <a:r>
              <a:rPr lang="tr-TR" sz="1400" dirty="0"/>
              <a:t>I</a:t>
            </a:r>
            <a:r>
              <a:rPr lang="en-US" sz="1400" dirty="0" err="1"/>
              <a:t>mamoglu's</a:t>
            </a:r>
            <a:r>
              <a:rPr lang="en-US" sz="1400" dirty="0"/>
              <a:t> arrest</a:t>
            </a:r>
            <a:endParaRPr lang="tr-TR" sz="1400" dirty="0"/>
          </a:p>
          <a:p>
            <a:pPr marL="0" indent="0">
              <a:buNone/>
            </a:pPr>
            <a:r>
              <a:rPr lang="en-US" sz="1400" dirty="0"/>
              <a:t>Political free fall: </a:t>
            </a:r>
            <a:r>
              <a:rPr lang="tr-TR" sz="1400" dirty="0"/>
              <a:t>T</a:t>
            </a:r>
            <a:r>
              <a:rPr lang="en-US" sz="1400" dirty="0" err="1"/>
              <a:t>urkey</a:t>
            </a:r>
            <a:r>
              <a:rPr lang="en-US" sz="1400" dirty="0"/>
              <a:t> faces protests, investor flight after</a:t>
            </a:r>
            <a:r>
              <a:rPr lang="tr-TR" sz="1400" dirty="0"/>
              <a:t> o</a:t>
            </a:r>
            <a:r>
              <a:rPr lang="en-US" sz="1400" dirty="0" err="1"/>
              <a:t>pposition</a:t>
            </a:r>
            <a:r>
              <a:rPr lang="en-US" sz="1400" dirty="0"/>
              <a:t> leader's arrest</a:t>
            </a:r>
            <a:endParaRPr lang="tr-TR" sz="1400" dirty="0"/>
          </a:p>
          <a:p>
            <a:pPr marL="0" indent="0">
              <a:buNone/>
            </a:pPr>
            <a:endParaRPr lang="tr-TR" sz="1600" dirty="0"/>
          </a:p>
        </p:txBody>
      </p:sp>
      <p:pic>
        <p:nvPicPr>
          <p:cNvPr id="12" name="Resim 11">
            <a:extLst>
              <a:ext uri="{FF2B5EF4-FFF2-40B4-BE49-F238E27FC236}">
                <a16:creationId xmlns:a16="http://schemas.microsoft.com/office/drawing/2014/main" id="{A8A1E9E2-FF60-D4D4-C341-F6D5679BD957}"/>
              </a:ext>
            </a:extLst>
          </p:cNvPr>
          <p:cNvPicPr>
            <a:picLocks noChangeAspect="1"/>
          </p:cNvPicPr>
          <p:nvPr/>
        </p:nvPicPr>
        <p:blipFill>
          <a:blip r:embed="rId2"/>
          <a:stretch>
            <a:fillRect/>
          </a:stretch>
        </p:blipFill>
        <p:spPr>
          <a:xfrm>
            <a:off x="84842" y="793789"/>
            <a:ext cx="11368726" cy="2265878"/>
          </a:xfrm>
          <a:prstGeom prst="rect">
            <a:avLst/>
          </a:prstGeom>
        </p:spPr>
      </p:pic>
      <p:sp>
        <p:nvSpPr>
          <p:cNvPr id="13" name="Metin kutusu 12">
            <a:extLst>
              <a:ext uri="{FF2B5EF4-FFF2-40B4-BE49-F238E27FC236}">
                <a16:creationId xmlns:a16="http://schemas.microsoft.com/office/drawing/2014/main" id="{CAFA79F8-4C34-4355-BD0F-FE43234B0177}"/>
              </a:ext>
            </a:extLst>
          </p:cNvPr>
          <p:cNvSpPr txBox="1"/>
          <p:nvPr/>
        </p:nvSpPr>
        <p:spPr>
          <a:xfrm>
            <a:off x="6624141" y="3721430"/>
            <a:ext cx="5347864" cy="2446824"/>
          </a:xfrm>
          <a:prstGeom prst="rect">
            <a:avLst/>
          </a:prstGeom>
          <a:noFill/>
        </p:spPr>
        <p:txBody>
          <a:bodyPr wrap="square" rtlCol="0">
            <a:spAutoFit/>
          </a:bodyPr>
          <a:lstStyle/>
          <a:p>
            <a:pPr marL="0" indent="0">
              <a:lnSpc>
                <a:spcPct val="150000"/>
              </a:lnSpc>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did</a:t>
            </a:r>
            <a:r>
              <a:rPr lang="tr-TR" sz="2000" dirty="0"/>
              <a:t> </a:t>
            </a:r>
            <a:r>
              <a:rPr lang="tr-TR" sz="2000" u="sng" dirty="0"/>
              <a:t>not</a:t>
            </a:r>
            <a:r>
              <a:rPr lang="tr-TR" sz="2000" dirty="0"/>
              <a:t> </a:t>
            </a:r>
            <a:r>
              <a:rPr lang="tr-TR" sz="2000" dirty="0" err="1"/>
              <a:t>found</a:t>
            </a:r>
            <a:r>
              <a:rPr lang="tr-TR" sz="2000" dirty="0"/>
              <a:t> </a:t>
            </a:r>
            <a:r>
              <a:rPr lang="tr-TR" sz="2000" dirty="0" err="1"/>
              <a:t>relevant</a:t>
            </a:r>
            <a:r>
              <a:rPr lang="tr-TR" sz="2000" dirty="0"/>
              <a:t>:</a:t>
            </a:r>
          </a:p>
          <a:p>
            <a:pPr marL="0" indent="0">
              <a:lnSpc>
                <a:spcPct val="150000"/>
              </a:lnSpc>
              <a:buNone/>
            </a:pPr>
            <a:r>
              <a:rPr lang="en-US" sz="1400" dirty="0"/>
              <a:t>Final push for votes as </a:t>
            </a:r>
            <a:r>
              <a:rPr lang="tr-TR" sz="1400" dirty="0"/>
              <a:t>G</a:t>
            </a:r>
            <a:r>
              <a:rPr lang="en-US" sz="1400" dirty="0" err="1"/>
              <a:t>erman</a:t>
            </a:r>
            <a:r>
              <a:rPr lang="en-US" sz="1400" dirty="0"/>
              <a:t> frontrunner vows to lead in </a:t>
            </a:r>
            <a:r>
              <a:rPr lang="tr-TR" sz="1400" dirty="0"/>
              <a:t>E</a:t>
            </a:r>
            <a:r>
              <a:rPr lang="en-US" sz="1400" dirty="0" err="1"/>
              <a:t>urope</a:t>
            </a:r>
            <a:endParaRPr lang="tr-TR" sz="1400" dirty="0"/>
          </a:p>
          <a:p>
            <a:pPr marL="0" indent="0">
              <a:lnSpc>
                <a:spcPct val="150000"/>
              </a:lnSpc>
              <a:buNone/>
            </a:pPr>
            <a:r>
              <a:rPr lang="tr-TR" sz="1400" dirty="0"/>
              <a:t>J</a:t>
            </a:r>
            <a:r>
              <a:rPr lang="en-US" sz="1400" dirty="0" err="1"/>
              <a:t>udge</a:t>
            </a:r>
            <a:r>
              <a:rPr lang="en-US" sz="1400" dirty="0"/>
              <a:t> argues </a:t>
            </a:r>
            <a:r>
              <a:rPr lang="tr-TR" sz="1400" dirty="0"/>
              <a:t>US</a:t>
            </a:r>
            <a:r>
              <a:rPr lang="en-US" sz="1400" dirty="0"/>
              <a:t> treated </a:t>
            </a:r>
            <a:r>
              <a:rPr lang="tr-TR" sz="1400" dirty="0"/>
              <a:t>N</a:t>
            </a:r>
            <a:r>
              <a:rPr lang="en-US" sz="1400" dirty="0" err="1"/>
              <a:t>azis</a:t>
            </a:r>
            <a:r>
              <a:rPr lang="en-US" sz="1400" dirty="0"/>
              <a:t> better than </a:t>
            </a:r>
            <a:r>
              <a:rPr lang="tr-TR" sz="1400" dirty="0"/>
              <a:t>V</a:t>
            </a:r>
            <a:r>
              <a:rPr lang="en-US" sz="1400" dirty="0" err="1"/>
              <a:t>enezuelan</a:t>
            </a:r>
            <a:r>
              <a:rPr lang="en-US" sz="1400" dirty="0"/>
              <a:t> migrants who </a:t>
            </a:r>
            <a:r>
              <a:rPr lang="en-US" sz="1400" dirty="0" err="1"/>
              <a:t>wer</a:t>
            </a:r>
            <a:r>
              <a:rPr lang="tr-TR" sz="1400" dirty="0"/>
              <a:t>e </a:t>
            </a:r>
            <a:r>
              <a:rPr lang="en-US" sz="1400" dirty="0"/>
              <a:t>deported</a:t>
            </a:r>
            <a:endParaRPr lang="tr-TR" sz="1400" dirty="0"/>
          </a:p>
          <a:p>
            <a:pPr marL="0" indent="0">
              <a:lnSpc>
                <a:spcPct val="150000"/>
              </a:lnSpc>
              <a:buNone/>
            </a:pPr>
            <a:r>
              <a:rPr lang="en-US" sz="1400" dirty="0" err="1"/>
              <a:t>Fbi</a:t>
            </a:r>
            <a:r>
              <a:rPr lang="en-US" sz="1400" dirty="0"/>
              <a:t> launches </a:t>
            </a:r>
            <a:r>
              <a:rPr lang="tr-TR" sz="1400" dirty="0"/>
              <a:t>T</a:t>
            </a:r>
            <a:r>
              <a:rPr lang="en-US" sz="1400" dirty="0" err="1"/>
              <a:t>esla</a:t>
            </a:r>
            <a:r>
              <a:rPr lang="en-US" sz="1400" dirty="0"/>
              <a:t> threats task force: 'this is domestic terrorism'</a:t>
            </a:r>
            <a:endParaRPr lang="tr-TR" sz="1400" dirty="0"/>
          </a:p>
          <a:p>
            <a:pPr marL="0" indent="0">
              <a:lnSpc>
                <a:spcPct val="150000"/>
              </a:lnSpc>
              <a:buNone/>
            </a:pPr>
            <a:r>
              <a:rPr lang="en-US" sz="1400" dirty="0"/>
              <a:t>Columbia </a:t>
            </a:r>
            <a:r>
              <a:rPr lang="tr-TR" sz="1400" dirty="0"/>
              <a:t>U</a:t>
            </a:r>
            <a:r>
              <a:rPr lang="en-US" sz="1400" dirty="0" err="1"/>
              <a:t>niversity</a:t>
            </a:r>
            <a:r>
              <a:rPr lang="en-US" sz="1400" dirty="0"/>
              <a:t> agrees to several </a:t>
            </a:r>
            <a:r>
              <a:rPr lang="tr-TR" sz="1400" dirty="0"/>
              <a:t>T</a:t>
            </a:r>
            <a:r>
              <a:rPr lang="en-US" sz="1400" dirty="0"/>
              <a:t>rump demands</a:t>
            </a:r>
            <a:endParaRPr lang="tr-TR" sz="1400" dirty="0"/>
          </a:p>
          <a:p>
            <a:endParaRPr lang="tr-TR" dirty="0"/>
          </a:p>
        </p:txBody>
      </p:sp>
      <p:sp>
        <p:nvSpPr>
          <p:cNvPr id="14" name="Metin kutusu 13">
            <a:extLst>
              <a:ext uri="{FF2B5EF4-FFF2-40B4-BE49-F238E27FC236}">
                <a16:creationId xmlns:a16="http://schemas.microsoft.com/office/drawing/2014/main" id="{50E9A543-A717-0AEE-C801-8859A318B7CE}"/>
              </a:ext>
            </a:extLst>
          </p:cNvPr>
          <p:cNvSpPr txBox="1"/>
          <p:nvPr/>
        </p:nvSpPr>
        <p:spPr>
          <a:xfrm>
            <a:off x="1159498" y="3089437"/>
            <a:ext cx="7152214" cy="369332"/>
          </a:xfrm>
          <a:prstGeom prst="rect">
            <a:avLst/>
          </a:prstGeom>
          <a:noFill/>
        </p:spPr>
        <p:txBody>
          <a:bodyPr wrap="none" rtlCol="0">
            <a:spAutoFit/>
          </a:bodyPr>
          <a:lstStyle/>
          <a:p>
            <a:r>
              <a:rPr lang="tr-TR" dirty="0" err="1"/>
              <a:t>Based</a:t>
            </a:r>
            <a:r>
              <a:rPr lang="tr-TR" dirty="0"/>
              <a:t> on the </a:t>
            </a:r>
            <a:r>
              <a:rPr lang="tr-TR" dirty="0" err="1"/>
              <a:t>relevance</a:t>
            </a:r>
            <a:r>
              <a:rPr lang="tr-TR" dirty="0"/>
              <a:t> set I </a:t>
            </a:r>
            <a:r>
              <a:rPr lang="tr-TR" dirty="0" err="1"/>
              <a:t>decided</a:t>
            </a:r>
            <a:r>
              <a:rPr lang="tr-TR" dirty="0"/>
              <a:t> on, the Precision is </a:t>
            </a:r>
            <a:r>
              <a:rPr lang="tr-TR" dirty="0" err="1"/>
              <a:t>calculated</a:t>
            </a:r>
            <a:r>
              <a:rPr lang="tr-TR" dirty="0"/>
              <a:t> as 0.69</a:t>
            </a:r>
          </a:p>
        </p:txBody>
      </p:sp>
      <p:sp>
        <p:nvSpPr>
          <p:cNvPr id="15" name="Metin kutusu 14">
            <a:extLst>
              <a:ext uri="{FF2B5EF4-FFF2-40B4-BE49-F238E27FC236}">
                <a16:creationId xmlns:a16="http://schemas.microsoft.com/office/drawing/2014/main" id="{534CBD03-A89A-D45E-BC5F-65F0C0587BE6}"/>
              </a:ext>
            </a:extLst>
          </p:cNvPr>
          <p:cNvSpPr txBox="1"/>
          <p:nvPr/>
        </p:nvSpPr>
        <p:spPr>
          <a:xfrm>
            <a:off x="377073" y="243673"/>
            <a:ext cx="3665299" cy="400110"/>
          </a:xfrm>
          <a:prstGeom prst="rect">
            <a:avLst/>
          </a:prstGeom>
          <a:noFill/>
        </p:spPr>
        <p:txBody>
          <a:bodyPr wrap="none" rtlCol="0">
            <a:spAutoFit/>
          </a:bodyPr>
          <a:lstStyle/>
          <a:p>
            <a:r>
              <a:rPr lang="tr-TR" sz="2000" dirty="0" err="1"/>
              <a:t>Next</a:t>
            </a:r>
            <a:r>
              <a:rPr lang="tr-TR" sz="2000" dirty="0"/>
              <a:t> I </a:t>
            </a:r>
            <a:r>
              <a:rPr lang="tr-TR" sz="2000" dirty="0" err="1"/>
              <a:t>choose</a:t>
            </a:r>
            <a:r>
              <a:rPr lang="tr-TR" sz="2000" dirty="0"/>
              <a:t> ‘protest’ as a </a:t>
            </a:r>
            <a:r>
              <a:rPr lang="tr-TR" sz="2000" dirty="0" err="1"/>
              <a:t>query</a:t>
            </a:r>
            <a:endParaRPr lang="tr-TR" sz="2000" dirty="0"/>
          </a:p>
        </p:txBody>
      </p:sp>
    </p:spTree>
    <p:extLst>
      <p:ext uri="{BB962C8B-B14F-4D97-AF65-F5344CB8AC3E}">
        <p14:creationId xmlns:p14="http://schemas.microsoft.com/office/powerpoint/2010/main" val="1663909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59D2E-B293-4BED-8F2A-08AA712AEB16}"/>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3EEFBAD-2685-22A2-3A05-29C2F1CC2325}"/>
              </a:ext>
            </a:extLst>
          </p:cNvPr>
          <p:cNvSpPr>
            <a:spLocks noGrp="1"/>
          </p:cNvSpPr>
          <p:nvPr>
            <p:ph idx="1"/>
          </p:nvPr>
        </p:nvSpPr>
        <p:spPr>
          <a:xfrm>
            <a:off x="377073" y="4041942"/>
            <a:ext cx="6685935" cy="3429001"/>
          </a:xfrm>
        </p:spPr>
        <p:txBody>
          <a:bodyPr>
            <a:normAutofit/>
          </a:bodyPr>
          <a:lstStyle/>
          <a:p>
            <a:pPr marL="0" indent="0">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found</a:t>
            </a:r>
            <a:r>
              <a:rPr lang="tr-TR" sz="2000" dirty="0"/>
              <a:t> </a:t>
            </a:r>
            <a:r>
              <a:rPr lang="tr-TR" sz="2000" dirty="0" err="1"/>
              <a:t>relevant</a:t>
            </a:r>
            <a:r>
              <a:rPr lang="tr-TR" sz="2000" dirty="0"/>
              <a:t>:</a:t>
            </a:r>
          </a:p>
          <a:p>
            <a:pPr marL="0" indent="0">
              <a:buNone/>
            </a:pPr>
            <a:r>
              <a:rPr lang="en-US" sz="1600" dirty="0"/>
              <a:t>Trump and intelligence chiefs play down </a:t>
            </a:r>
            <a:r>
              <a:rPr lang="tr-TR" sz="1600" dirty="0"/>
              <a:t>S</a:t>
            </a:r>
            <a:r>
              <a:rPr lang="en-US" sz="1600" dirty="0" err="1"/>
              <a:t>ignal</a:t>
            </a:r>
            <a:r>
              <a:rPr lang="en-US" sz="1600" dirty="0"/>
              <a:t> group chat leak</a:t>
            </a:r>
            <a:endParaRPr lang="tr-TR" sz="1600" dirty="0"/>
          </a:p>
          <a:p>
            <a:pPr marL="0" indent="0">
              <a:buNone/>
            </a:pPr>
            <a:r>
              <a:rPr lang="en-US" sz="1600" dirty="0"/>
              <a:t>Why is it a problem if </a:t>
            </a:r>
            <a:r>
              <a:rPr lang="tr-TR" sz="1600" dirty="0"/>
              <a:t>Y</a:t>
            </a:r>
            <a:r>
              <a:rPr lang="en-US" sz="1600" dirty="0" err="1"/>
              <a:t>emen</a:t>
            </a:r>
            <a:r>
              <a:rPr lang="en-US" sz="1600" dirty="0"/>
              <a:t> strike plans shared on </a:t>
            </a:r>
            <a:r>
              <a:rPr lang="tr-TR" sz="1600" dirty="0"/>
              <a:t>S</a:t>
            </a:r>
            <a:r>
              <a:rPr lang="en-US" sz="1600" dirty="0" err="1"/>
              <a:t>ignal</a:t>
            </a:r>
            <a:r>
              <a:rPr lang="en-US" sz="1600" dirty="0"/>
              <a:t>?</a:t>
            </a:r>
            <a:endParaRPr lang="tr-TR" sz="1600" dirty="0"/>
          </a:p>
          <a:p>
            <a:pPr marL="0" indent="0">
              <a:buNone/>
            </a:pPr>
            <a:r>
              <a:rPr lang="en-US" sz="1600" dirty="0"/>
              <a:t>Mike waltz takes 'full responsibility' for </a:t>
            </a:r>
            <a:r>
              <a:rPr lang="tr-TR" sz="1600" dirty="0"/>
              <a:t>S</a:t>
            </a:r>
            <a:r>
              <a:rPr lang="en-US" sz="1600" dirty="0" err="1"/>
              <a:t>ignal</a:t>
            </a:r>
            <a:r>
              <a:rPr lang="en-US" sz="1600" dirty="0"/>
              <a:t> group chat leak</a:t>
            </a:r>
            <a:endParaRPr lang="tr-TR" sz="1600" dirty="0"/>
          </a:p>
        </p:txBody>
      </p:sp>
      <p:sp>
        <p:nvSpPr>
          <p:cNvPr id="14" name="Metin kutusu 13">
            <a:extLst>
              <a:ext uri="{FF2B5EF4-FFF2-40B4-BE49-F238E27FC236}">
                <a16:creationId xmlns:a16="http://schemas.microsoft.com/office/drawing/2014/main" id="{B01B93C0-BF5B-A3F2-4F05-F334F8FCEB7C}"/>
              </a:ext>
            </a:extLst>
          </p:cNvPr>
          <p:cNvSpPr txBox="1"/>
          <p:nvPr/>
        </p:nvSpPr>
        <p:spPr>
          <a:xfrm>
            <a:off x="1168925" y="3429000"/>
            <a:ext cx="7152214" cy="369332"/>
          </a:xfrm>
          <a:prstGeom prst="rect">
            <a:avLst/>
          </a:prstGeom>
          <a:noFill/>
        </p:spPr>
        <p:txBody>
          <a:bodyPr wrap="none" rtlCol="0">
            <a:spAutoFit/>
          </a:bodyPr>
          <a:lstStyle/>
          <a:p>
            <a:r>
              <a:rPr lang="tr-TR" dirty="0" err="1"/>
              <a:t>Based</a:t>
            </a:r>
            <a:r>
              <a:rPr lang="tr-TR" dirty="0"/>
              <a:t> on the </a:t>
            </a:r>
            <a:r>
              <a:rPr lang="tr-TR" dirty="0" err="1"/>
              <a:t>relevance</a:t>
            </a:r>
            <a:r>
              <a:rPr lang="tr-TR" dirty="0"/>
              <a:t> set I </a:t>
            </a:r>
            <a:r>
              <a:rPr lang="tr-TR" dirty="0" err="1"/>
              <a:t>decided</a:t>
            </a:r>
            <a:r>
              <a:rPr lang="tr-TR" dirty="0"/>
              <a:t> on, the Precision is </a:t>
            </a:r>
            <a:r>
              <a:rPr lang="tr-TR" dirty="0" err="1"/>
              <a:t>calculated</a:t>
            </a:r>
            <a:r>
              <a:rPr lang="tr-TR" dirty="0"/>
              <a:t> as 1.00</a:t>
            </a:r>
          </a:p>
        </p:txBody>
      </p:sp>
      <p:sp>
        <p:nvSpPr>
          <p:cNvPr id="15" name="Metin kutusu 14">
            <a:extLst>
              <a:ext uri="{FF2B5EF4-FFF2-40B4-BE49-F238E27FC236}">
                <a16:creationId xmlns:a16="http://schemas.microsoft.com/office/drawing/2014/main" id="{1F87B996-270C-62F4-3A29-8BCDA23FA276}"/>
              </a:ext>
            </a:extLst>
          </p:cNvPr>
          <p:cNvSpPr txBox="1"/>
          <p:nvPr/>
        </p:nvSpPr>
        <p:spPr>
          <a:xfrm>
            <a:off x="377073" y="243673"/>
            <a:ext cx="3982437" cy="400110"/>
          </a:xfrm>
          <a:prstGeom prst="rect">
            <a:avLst/>
          </a:prstGeom>
          <a:noFill/>
        </p:spPr>
        <p:txBody>
          <a:bodyPr wrap="none" rtlCol="0">
            <a:spAutoFit/>
          </a:bodyPr>
          <a:lstStyle/>
          <a:p>
            <a:r>
              <a:rPr lang="tr-TR" sz="2000" dirty="0" err="1"/>
              <a:t>Next</a:t>
            </a:r>
            <a:r>
              <a:rPr lang="tr-TR" sz="2000" dirty="0"/>
              <a:t> I </a:t>
            </a:r>
            <a:r>
              <a:rPr lang="tr-TR" sz="2000" dirty="0" err="1"/>
              <a:t>choose</a:t>
            </a:r>
            <a:r>
              <a:rPr lang="tr-TR" sz="2000" dirty="0"/>
              <a:t> ‘</a:t>
            </a:r>
            <a:r>
              <a:rPr lang="tr-TR" sz="2000" dirty="0" err="1"/>
              <a:t>signal</a:t>
            </a:r>
            <a:r>
              <a:rPr lang="tr-TR" sz="2000" dirty="0"/>
              <a:t> </a:t>
            </a:r>
            <a:r>
              <a:rPr lang="tr-TR" sz="2000" dirty="0" err="1"/>
              <a:t>leak</a:t>
            </a:r>
            <a:r>
              <a:rPr lang="tr-TR" sz="2000" dirty="0"/>
              <a:t>’ as a </a:t>
            </a:r>
            <a:r>
              <a:rPr lang="tr-TR" sz="2000" dirty="0" err="1"/>
              <a:t>query</a:t>
            </a:r>
            <a:endParaRPr lang="tr-TR" sz="2000" dirty="0"/>
          </a:p>
        </p:txBody>
      </p:sp>
      <p:pic>
        <p:nvPicPr>
          <p:cNvPr id="8" name="Resim 7">
            <a:extLst>
              <a:ext uri="{FF2B5EF4-FFF2-40B4-BE49-F238E27FC236}">
                <a16:creationId xmlns:a16="http://schemas.microsoft.com/office/drawing/2014/main" id="{9526F326-634D-778D-432F-CFB0D3E4DAAE}"/>
              </a:ext>
            </a:extLst>
          </p:cNvPr>
          <p:cNvPicPr>
            <a:picLocks noChangeAspect="1"/>
          </p:cNvPicPr>
          <p:nvPr/>
        </p:nvPicPr>
        <p:blipFill>
          <a:blip r:embed="rId2"/>
          <a:stretch>
            <a:fillRect/>
          </a:stretch>
        </p:blipFill>
        <p:spPr>
          <a:xfrm>
            <a:off x="1461155" y="887392"/>
            <a:ext cx="5762142" cy="2297997"/>
          </a:xfrm>
          <a:prstGeom prst="rect">
            <a:avLst/>
          </a:prstGeom>
        </p:spPr>
      </p:pic>
    </p:spTree>
    <p:extLst>
      <p:ext uri="{BB962C8B-B14F-4D97-AF65-F5344CB8AC3E}">
        <p14:creationId xmlns:p14="http://schemas.microsoft.com/office/powerpoint/2010/main" val="225215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A1881-20FD-FDB5-C904-C71C4FC5C276}"/>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B37829D-B3A0-0943-6976-D0E9D51B8321}"/>
              </a:ext>
            </a:extLst>
          </p:cNvPr>
          <p:cNvSpPr>
            <a:spLocks noGrp="1"/>
          </p:cNvSpPr>
          <p:nvPr>
            <p:ph idx="1"/>
          </p:nvPr>
        </p:nvSpPr>
        <p:spPr>
          <a:xfrm>
            <a:off x="377073" y="3628551"/>
            <a:ext cx="6685935" cy="3229449"/>
          </a:xfrm>
        </p:spPr>
        <p:txBody>
          <a:bodyPr>
            <a:normAutofit/>
          </a:bodyPr>
          <a:lstStyle/>
          <a:p>
            <a:pPr marL="0" indent="0">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found</a:t>
            </a:r>
            <a:r>
              <a:rPr lang="tr-TR" sz="2000" dirty="0"/>
              <a:t> </a:t>
            </a:r>
            <a:r>
              <a:rPr lang="tr-TR" sz="2000" dirty="0" err="1"/>
              <a:t>relevant</a:t>
            </a:r>
            <a:r>
              <a:rPr lang="tr-TR" sz="2000" dirty="0"/>
              <a:t>:</a:t>
            </a:r>
          </a:p>
          <a:p>
            <a:pPr marL="0" indent="0">
              <a:buNone/>
            </a:pPr>
            <a:r>
              <a:rPr lang="en-US" sz="1400" dirty="0"/>
              <a:t>How </a:t>
            </a:r>
            <a:r>
              <a:rPr lang="tr-TR" sz="1400" dirty="0"/>
              <a:t>T</a:t>
            </a:r>
            <a:r>
              <a:rPr lang="en-US" sz="1400" dirty="0"/>
              <a:t>rump blew up the </a:t>
            </a:r>
            <a:r>
              <a:rPr lang="tr-TR" sz="1400" dirty="0"/>
              <a:t>w</a:t>
            </a:r>
            <a:r>
              <a:rPr lang="en-US" sz="1400" dirty="0" err="1"/>
              <a:t>orld</a:t>
            </a:r>
            <a:r>
              <a:rPr lang="en-US" sz="1400" dirty="0"/>
              <a:t> order - and left </a:t>
            </a:r>
            <a:r>
              <a:rPr lang="tr-TR" sz="1400" dirty="0"/>
              <a:t>E</a:t>
            </a:r>
            <a:r>
              <a:rPr lang="en-US" sz="1400" dirty="0" err="1"/>
              <a:t>urope</a:t>
            </a:r>
            <a:r>
              <a:rPr lang="en-US" sz="1400" dirty="0"/>
              <a:t> scrabbling</a:t>
            </a:r>
            <a:endParaRPr lang="tr-TR" sz="1400" dirty="0"/>
          </a:p>
          <a:p>
            <a:pPr marL="0" indent="0">
              <a:buNone/>
            </a:pPr>
            <a:r>
              <a:rPr lang="en-US" sz="1400" dirty="0"/>
              <a:t>Trump suggests </a:t>
            </a:r>
            <a:r>
              <a:rPr lang="tr-TR" sz="1400" dirty="0"/>
              <a:t>US</a:t>
            </a:r>
            <a:r>
              <a:rPr lang="en-US" sz="1400" dirty="0"/>
              <a:t> control of </a:t>
            </a:r>
            <a:r>
              <a:rPr lang="tr-TR" sz="1400" dirty="0"/>
              <a:t>U</a:t>
            </a:r>
            <a:r>
              <a:rPr lang="en-US" sz="1400" dirty="0" err="1"/>
              <a:t>kraine’s</a:t>
            </a:r>
            <a:r>
              <a:rPr lang="en-US" sz="1400" dirty="0"/>
              <a:t> power plants in </a:t>
            </a:r>
            <a:r>
              <a:rPr lang="tr-TR" sz="1400" dirty="0"/>
              <a:t>Z</a:t>
            </a:r>
            <a:r>
              <a:rPr lang="en-US" sz="1400" dirty="0" err="1"/>
              <a:t>elensky</a:t>
            </a:r>
            <a:r>
              <a:rPr lang="en-US" sz="1400" dirty="0"/>
              <a:t> call</a:t>
            </a:r>
            <a:endParaRPr lang="tr-TR" sz="1400" dirty="0"/>
          </a:p>
          <a:p>
            <a:pPr marL="0" indent="0">
              <a:buNone/>
            </a:pPr>
            <a:r>
              <a:rPr lang="en-US" sz="1400" dirty="0"/>
              <a:t>Why </a:t>
            </a:r>
            <a:r>
              <a:rPr lang="tr-TR" sz="1400" dirty="0"/>
              <a:t>T</a:t>
            </a:r>
            <a:r>
              <a:rPr lang="en-US" sz="1400" dirty="0"/>
              <a:t>rump is struggling to secure fast ceasefire in </a:t>
            </a:r>
            <a:r>
              <a:rPr lang="tr-TR" sz="1400" dirty="0"/>
              <a:t>U</a:t>
            </a:r>
            <a:r>
              <a:rPr lang="en-US" sz="1400" dirty="0" err="1"/>
              <a:t>kraine</a:t>
            </a:r>
            <a:endParaRPr lang="tr-TR" sz="1400" dirty="0"/>
          </a:p>
          <a:p>
            <a:pPr marL="0" indent="0">
              <a:buNone/>
            </a:pPr>
            <a:r>
              <a:rPr lang="en-US" sz="1400" dirty="0"/>
              <a:t>Ukraine's 'chaotic' withdrawal from </a:t>
            </a:r>
            <a:r>
              <a:rPr lang="tr-TR" sz="1400" dirty="0"/>
              <a:t>R</a:t>
            </a:r>
            <a:r>
              <a:rPr lang="en-US" sz="1400" dirty="0" err="1"/>
              <a:t>ussia</a:t>
            </a:r>
            <a:r>
              <a:rPr lang="en-US" sz="1400" dirty="0"/>
              <a:t>, in its soldiers' words</a:t>
            </a:r>
            <a:endParaRPr lang="tr-TR" sz="1400" dirty="0"/>
          </a:p>
          <a:p>
            <a:pPr marL="0" indent="0">
              <a:buNone/>
            </a:pPr>
            <a:r>
              <a:rPr lang="en-US" sz="1400" dirty="0"/>
              <a:t>Russia and </a:t>
            </a:r>
            <a:r>
              <a:rPr lang="tr-TR" sz="1400" dirty="0"/>
              <a:t>U</a:t>
            </a:r>
            <a:r>
              <a:rPr lang="en-US" sz="1400" dirty="0" err="1"/>
              <a:t>kraine</a:t>
            </a:r>
            <a:r>
              <a:rPr lang="en-US" sz="1400" dirty="0"/>
              <a:t> agree naval ceasefire in </a:t>
            </a:r>
            <a:r>
              <a:rPr lang="tr-TR" sz="1400" dirty="0"/>
              <a:t>B</a:t>
            </a:r>
            <a:r>
              <a:rPr lang="en-US" sz="1400" dirty="0"/>
              <a:t>lack </a:t>
            </a:r>
            <a:r>
              <a:rPr lang="tr-TR" sz="1400" dirty="0"/>
              <a:t>S</a:t>
            </a:r>
            <a:r>
              <a:rPr lang="en-US" sz="1400" dirty="0" err="1"/>
              <a:t>ea</a:t>
            </a:r>
            <a:endParaRPr lang="tr-TR" sz="1400" dirty="0"/>
          </a:p>
          <a:p>
            <a:pPr marL="0" indent="0">
              <a:buNone/>
            </a:pPr>
            <a:r>
              <a:rPr lang="en-US" sz="1400" dirty="0"/>
              <a:t>Putin gives trump bare minimum on </a:t>
            </a:r>
            <a:r>
              <a:rPr lang="tr-TR" sz="1400" dirty="0"/>
              <a:t>U</a:t>
            </a:r>
            <a:r>
              <a:rPr lang="en-US" sz="1400" dirty="0" err="1"/>
              <a:t>kraine</a:t>
            </a:r>
            <a:r>
              <a:rPr lang="en-US" sz="1400" dirty="0"/>
              <a:t> but the war goes on</a:t>
            </a:r>
            <a:endParaRPr lang="tr-TR" sz="1400" dirty="0"/>
          </a:p>
          <a:p>
            <a:pPr marL="0" indent="0">
              <a:buNone/>
            </a:pPr>
            <a:r>
              <a:rPr lang="nb-NO" sz="1400" dirty="0"/>
              <a:t>Trump envoy dismisses starmer plan for </a:t>
            </a:r>
            <a:r>
              <a:rPr lang="tr-TR" sz="1400" dirty="0"/>
              <a:t>U</a:t>
            </a:r>
            <a:r>
              <a:rPr lang="nb-NO" sz="1400" dirty="0"/>
              <a:t>kraine</a:t>
            </a:r>
            <a:endParaRPr lang="tr-TR" sz="1400" dirty="0"/>
          </a:p>
          <a:p>
            <a:pPr marL="0" indent="0">
              <a:buNone/>
            </a:pPr>
            <a:r>
              <a:rPr lang="en-US" sz="1400" dirty="0"/>
              <a:t>Rosenberg: </a:t>
            </a:r>
            <a:r>
              <a:rPr lang="tr-TR" sz="1400" dirty="0"/>
              <a:t>T</a:t>
            </a:r>
            <a:r>
              <a:rPr lang="en-US" sz="1400" dirty="0"/>
              <a:t>rump-</a:t>
            </a:r>
            <a:r>
              <a:rPr lang="tr-TR" sz="1400" dirty="0"/>
              <a:t>P</a:t>
            </a:r>
            <a:r>
              <a:rPr lang="en-US" sz="1400" dirty="0" err="1"/>
              <a:t>utin</a:t>
            </a:r>
            <a:r>
              <a:rPr lang="en-US" sz="1400" dirty="0"/>
              <a:t> call seen as victory in </a:t>
            </a:r>
            <a:r>
              <a:rPr lang="tr-TR" sz="1400" dirty="0"/>
              <a:t>R</a:t>
            </a:r>
            <a:r>
              <a:rPr lang="en-US" sz="1400" dirty="0" err="1"/>
              <a:t>ussia</a:t>
            </a:r>
            <a:endParaRPr lang="tr-TR" sz="1400" dirty="0"/>
          </a:p>
        </p:txBody>
      </p:sp>
      <p:sp>
        <p:nvSpPr>
          <p:cNvPr id="13" name="Metin kutusu 12">
            <a:extLst>
              <a:ext uri="{FF2B5EF4-FFF2-40B4-BE49-F238E27FC236}">
                <a16:creationId xmlns:a16="http://schemas.microsoft.com/office/drawing/2014/main" id="{A70367D3-C9DF-3F99-BC73-55FCA7BE747B}"/>
              </a:ext>
            </a:extLst>
          </p:cNvPr>
          <p:cNvSpPr txBox="1"/>
          <p:nvPr/>
        </p:nvSpPr>
        <p:spPr>
          <a:xfrm>
            <a:off x="6685935" y="3628551"/>
            <a:ext cx="5347864" cy="1200329"/>
          </a:xfrm>
          <a:prstGeom prst="rect">
            <a:avLst/>
          </a:prstGeom>
          <a:noFill/>
        </p:spPr>
        <p:txBody>
          <a:bodyPr wrap="square" rtlCol="0">
            <a:spAutoFit/>
          </a:bodyPr>
          <a:lstStyle/>
          <a:p>
            <a:pPr marL="0" indent="0">
              <a:lnSpc>
                <a:spcPct val="150000"/>
              </a:lnSpc>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did</a:t>
            </a:r>
            <a:r>
              <a:rPr lang="tr-TR" sz="2000" dirty="0"/>
              <a:t> </a:t>
            </a:r>
            <a:r>
              <a:rPr lang="tr-TR" sz="2000" u="sng" dirty="0"/>
              <a:t>not</a:t>
            </a:r>
            <a:r>
              <a:rPr lang="tr-TR" sz="2000" dirty="0"/>
              <a:t> </a:t>
            </a:r>
            <a:r>
              <a:rPr lang="tr-TR" sz="2000" dirty="0" err="1"/>
              <a:t>found</a:t>
            </a:r>
            <a:r>
              <a:rPr lang="tr-TR" sz="2000" dirty="0"/>
              <a:t> </a:t>
            </a:r>
            <a:r>
              <a:rPr lang="tr-TR" sz="2000" dirty="0" err="1"/>
              <a:t>relevant</a:t>
            </a:r>
            <a:r>
              <a:rPr lang="tr-TR" sz="2000" dirty="0"/>
              <a:t>:</a:t>
            </a:r>
          </a:p>
          <a:p>
            <a:r>
              <a:rPr lang="en-US" sz="1400" dirty="0"/>
              <a:t>Germany set to vote on historic increase in </a:t>
            </a:r>
            <a:r>
              <a:rPr lang="en-US" sz="1400" dirty="0" err="1"/>
              <a:t>defence</a:t>
            </a:r>
            <a:r>
              <a:rPr lang="en-US" sz="1400" dirty="0"/>
              <a:t> spending</a:t>
            </a:r>
            <a:endParaRPr lang="tr-TR" sz="1400" dirty="0"/>
          </a:p>
          <a:p>
            <a:r>
              <a:rPr lang="en-US" sz="1400" dirty="0"/>
              <a:t>Germany votes for historic boost to </a:t>
            </a:r>
            <a:r>
              <a:rPr lang="en-US" sz="1400" dirty="0" err="1"/>
              <a:t>defence</a:t>
            </a:r>
            <a:r>
              <a:rPr lang="en-US" sz="1400" dirty="0"/>
              <a:t> and infrastructure</a:t>
            </a:r>
            <a:r>
              <a:rPr lang="tr-TR" sz="1400" dirty="0"/>
              <a:t> s</a:t>
            </a:r>
            <a:r>
              <a:rPr lang="en-US" sz="1400" dirty="0"/>
              <a:t>pending</a:t>
            </a:r>
            <a:endParaRPr lang="tr-TR" sz="1400" dirty="0"/>
          </a:p>
        </p:txBody>
      </p:sp>
      <p:sp>
        <p:nvSpPr>
          <p:cNvPr id="14" name="Metin kutusu 13">
            <a:extLst>
              <a:ext uri="{FF2B5EF4-FFF2-40B4-BE49-F238E27FC236}">
                <a16:creationId xmlns:a16="http://schemas.microsoft.com/office/drawing/2014/main" id="{BBBE1103-10AF-778E-CD53-0B66F7CDA1E2}"/>
              </a:ext>
            </a:extLst>
          </p:cNvPr>
          <p:cNvSpPr txBox="1"/>
          <p:nvPr/>
        </p:nvSpPr>
        <p:spPr>
          <a:xfrm>
            <a:off x="1159498" y="3089437"/>
            <a:ext cx="7152214" cy="369332"/>
          </a:xfrm>
          <a:prstGeom prst="rect">
            <a:avLst/>
          </a:prstGeom>
          <a:noFill/>
        </p:spPr>
        <p:txBody>
          <a:bodyPr wrap="none" rtlCol="0">
            <a:spAutoFit/>
          </a:bodyPr>
          <a:lstStyle/>
          <a:p>
            <a:r>
              <a:rPr lang="tr-TR" dirty="0" err="1"/>
              <a:t>Based</a:t>
            </a:r>
            <a:r>
              <a:rPr lang="tr-TR" dirty="0"/>
              <a:t> on the </a:t>
            </a:r>
            <a:r>
              <a:rPr lang="tr-TR" dirty="0" err="1"/>
              <a:t>relevance</a:t>
            </a:r>
            <a:r>
              <a:rPr lang="tr-TR" dirty="0"/>
              <a:t> set I </a:t>
            </a:r>
            <a:r>
              <a:rPr lang="tr-TR" dirty="0" err="1"/>
              <a:t>decided</a:t>
            </a:r>
            <a:r>
              <a:rPr lang="tr-TR" dirty="0"/>
              <a:t> on, the Precision is </a:t>
            </a:r>
            <a:r>
              <a:rPr lang="tr-TR" dirty="0" err="1"/>
              <a:t>calculated</a:t>
            </a:r>
            <a:r>
              <a:rPr lang="tr-TR" dirty="0"/>
              <a:t> as 0.90</a:t>
            </a:r>
          </a:p>
        </p:txBody>
      </p:sp>
      <p:sp>
        <p:nvSpPr>
          <p:cNvPr id="15" name="Metin kutusu 14">
            <a:extLst>
              <a:ext uri="{FF2B5EF4-FFF2-40B4-BE49-F238E27FC236}">
                <a16:creationId xmlns:a16="http://schemas.microsoft.com/office/drawing/2014/main" id="{C747737E-37B1-53B9-DC8B-BF9479A0C18F}"/>
              </a:ext>
            </a:extLst>
          </p:cNvPr>
          <p:cNvSpPr txBox="1"/>
          <p:nvPr/>
        </p:nvSpPr>
        <p:spPr>
          <a:xfrm>
            <a:off x="377073" y="243673"/>
            <a:ext cx="4163063" cy="400110"/>
          </a:xfrm>
          <a:prstGeom prst="rect">
            <a:avLst/>
          </a:prstGeom>
          <a:noFill/>
        </p:spPr>
        <p:txBody>
          <a:bodyPr wrap="none" rtlCol="0">
            <a:spAutoFit/>
          </a:bodyPr>
          <a:lstStyle/>
          <a:p>
            <a:r>
              <a:rPr lang="tr-TR" sz="2000" dirty="0" err="1"/>
              <a:t>Next</a:t>
            </a:r>
            <a:r>
              <a:rPr lang="tr-TR" sz="2000" dirty="0"/>
              <a:t> I </a:t>
            </a:r>
            <a:r>
              <a:rPr lang="tr-TR" sz="2000" dirty="0" err="1"/>
              <a:t>choose</a:t>
            </a:r>
            <a:r>
              <a:rPr lang="tr-TR" sz="2000" dirty="0"/>
              <a:t> ‘</a:t>
            </a:r>
            <a:r>
              <a:rPr lang="tr-TR" sz="2000" dirty="0" err="1"/>
              <a:t>trump</a:t>
            </a:r>
            <a:r>
              <a:rPr lang="tr-TR" sz="2000" dirty="0"/>
              <a:t> </a:t>
            </a:r>
            <a:r>
              <a:rPr lang="tr-TR" sz="2000" dirty="0" err="1"/>
              <a:t>putin</a:t>
            </a:r>
            <a:r>
              <a:rPr lang="tr-TR" sz="2000" dirty="0"/>
              <a:t>’ as a </a:t>
            </a:r>
            <a:r>
              <a:rPr lang="tr-TR" sz="2000" dirty="0" err="1"/>
              <a:t>query</a:t>
            </a:r>
            <a:endParaRPr lang="tr-TR" sz="2000" dirty="0"/>
          </a:p>
        </p:txBody>
      </p:sp>
      <p:pic>
        <p:nvPicPr>
          <p:cNvPr id="5" name="Resim 4">
            <a:extLst>
              <a:ext uri="{FF2B5EF4-FFF2-40B4-BE49-F238E27FC236}">
                <a16:creationId xmlns:a16="http://schemas.microsoft.com/office/drawing/2014/main" id="{055E591A-8560-4385-3B4B-6FF3D0A596C2}"/>
              </a:ext>
            </a:extLst>
          </p:cNvPr>
          <p:cNvPicPr>
            <a:picLocks noChangeAspect="1"/>
          </p:cNvPicPr>
          <p:nvPr/>
        </p:nvPicPr>
        <p:blipFill>
          <a:blip r:embed="rId2"/>
          <a:stretch>
            <a:fillRect/>
          </a:stretch>
        </p:blipFill>
        <p:spPr>
          <a:xfrm>
            <a:off x="243087" y="770629"/>
            <a:ext cx="11027096" cy="2149026"/>
          </a:xfrm>
          <a:prstGeom prst="rect">
            <a:avLst/>
          </a:prstGeom>
        </p:spPr>
      </p:pic>
    </p:spTree>
    <p:extLst>
      <p:ext uri="{BB962C8B-B14F-4D97-AF65-F5344CB8AC3E}">
        <p14:creationId xmlns:p14="http://schemas.microsoft.com/office/powerpoint/2010/main" val="3477134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FE56-54A4-293D-F2FC-913595715E66}"/>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5389C64-17F8-BD42-B5C9-9E4F857E8C51}"/>
              </a:ext>
            </a:extLst>
          </p:cNvPr>
          <p:cNvSpPr>
            <a:spLocks noGrp="1"/>
          </p:cNvSpPr>
          <p:nvPr>
            <p:ph idx="1"/>
          </p:nvPr>
        </p:nvSpPr>
        <p:spPr>
          <a:xfrm>
            <a:off x="6454980" y="443728"/>
            <a:ext cx="6685935" cy="3229449"/>
          </a:xfrm>
        </p:spPr>
        <p:txBody>
          <a:bodyPr>
            <a:normAutofit/>
          </a:bodyPr>
          <a:lstStyle/>
          <a:p>
            <a:pPr marL="0" indent="0">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found</a:t>
            </a:r>
            <a:r>
              <a:rPr lang="tr-TR" sz="2000" dirty="0"/>
              <a:t> </a:t>
            </a:r>
            <a:r>
              <a:rPr lang="tr-TR" sz="2000" dirty="0" err="1"/>
              <a:t>relevant</a:t>
            </a:r>
            <a:r>
              <a:rPr lang="tr-TR" sz="2000" dirty="0"/>
              <a:t>:</a:t>
            </a:r>
          </a:p>
          <a:p>
            <a:pPr marL="0" indent="0">
              <a:buNone/>
            </a:pPr>
            <a:r>
              <a:rPr lang="en-US" sz="1400" dirty="0"/>
              <a:t>HOW DOES CANADA'S GENERAL ELECTION WORK? A SIMPLE GUIDE</a:t>
            </a:r>
            <a:endParaRPr lang="tr-TR" sz="1400" dirty="0"/>
          </a:p>
          <a:p>
            <a:pPr marL="0" indent="0">
              <a:buNone/>
            </a:pPr>
            <a:r>
              <a:rPr lang="en-US" sz="1400" dirty="0"/>
              <a:t>WHO'S WHO IN CANADA'S FEDERAL ELECTION</a:t>
            </a:r>
            <a:endParaRPr lang="tr-TR" sz="1400" dirty="0"/>
          </a:p>
        </p:txBody>
      </p:sp>
      <p:sp>
        <p:nvSpPr>
          <p:cNvPr id="13" name="Metin kutusu 12">
            <a:extLst>
              <a:ext uri="{FF2B5EF4-FFF2-40B4-BE49-F238E27FC236}">
                <a16:creationId xmlns:a16="http://schemas.microsoft.com/office/drawing/2014/main" id="{4DCA4F31-58E1-553A-1889-60FD00DCF277}"/>
              </a:ext>
            </a:extLst>
          </p:cNvPr>
          <p:cNvSpPr txBox="1"/>
          <p:nvPr/>
        </p:nvSpPr>
        <p:spPr>
          <a:xfrm>
            <a:off x="6454980" y="1500612"/>
            <a:ext cx="5347864" cy="1614288"/>
          </a:xfrm>
          <a:prstGeom prst="rect">
            <a:avLst/>
          </a:prstGeom>
          <a:noFill/>
        </p:spPr>
        <p:txBody>
          <a:bodyPr wrap="square" rtlCol="0">
            <a:spAutoFit/>
          </a:bodyPr>
          <a:lstStyle/>
          <a:p>
            <a:pPr marL="0" indent="0">
              <a:lnSpc>
                <a:spcPct val="150000"/>
              </a:lnSpc>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did</a:t>
            </a:r>
            <a:r>
              <a:rPr lang="tr-TR" sz="2000" dirty="0"/>
              <a:t> </a:t>
            </a:r>
            <a:r>
              <a:rPr lang="tr-TR" sz="2000" u="sng" dirty="0"/>
              <a:t>not</a:t>
            </a:r>
            <a:r>
              <a:rPr lang="tr-TR" sz="2000" dirty="0"/>
              <a:t> </a:t>
            </a:r>
            <a:r>
              <a:rPr lang="tr-TR" sz="2000" dirty="0" err="1"/>
              <a:t>found</a:t>
            </a:r>
            <a:r>
              <a:rPr lang="tr-TR" sz="2000" dirty="0"/>
              <a:t> </a:t>
            </a:r>
            <a:r>
              <a:rPr lang="tr-TR" sz="2000" dirty="0" err="1"/>
              <a:t>relevant</a:t>
            </a:r>
            <a:r>
              <a:rPr lang="tr-TR" sz="2000" dirty="0"/>
              <a:t>:</a:t>
            </a:r>
          </a:p>
          <a:p>
            <a:pPr marL="0" indent="0">
              <a:lnSpc>
                <a:spcPct val="150000"/>
              </a:lnSpc>
              <a:buNone/>
            </a:pPr>
            <a:r>
              <a:rPr lang="en-US" sz="1400" dirty="0"/>
              <a:t>INDIA ACCUSED OF MEDDLING IN CANADA'S CONSERVATIVE PARTY LEADERSHIP</a:t>
            </a:r>
            <a:r>
              <a:rPr lang="tr-TR" sz="1400" dirty="0"/>
              <a:t> </a:t>
            </a:r>
            <a:r>
              <a:rPr lang="en-US" sz="1400" dirty="0"/>
              <a:t>RACE</a:t>
            </a:r>
          </a:p>
          <a:p>
            <a:pPr marL="0" indent="0">
              <a:lnSpc>
                <a:spcPct val="150000"/>
              </a:lnSpc>
              <a:buNone/>
            </a:pPr>
            <a:endParaRPr lang="tr-TR" sz="2000" dirty="0"/>
          </a:p>
        </p:txBody>
      </p:sp>
      <p:sp>
        <p:nvSpPr>
          <p:cNvPr id="14" name="Metin kutusu 13">
            <a:extLst>
              <a:ext uri="{FF2B5EF4-FFF2-40B4-BE49-F238E27FC236}">
                <a16:creationId xmlns:a16="http://schemas.microsoft.com/office/drawing/2014/main" id="{45E3A4B9-3060-AF13-57F4-F9B71BD8FD1A}"/>
              </a:ext>
            </a:extLst>
          </p:cNvPr>
          <p:cNvSpPr txBox="1"/>
          <p:nvPr/>
        </p:nvSpPr>
        <p:spPr>
          <a:xfrm>
            <a:off x="126063" y="2760957"/>
            <a:ext cx="6752361" cy="353943"/>
          </a:xfrm>
          <a:prstGeom prst="rect">
            <a:avLst/>
          </a:prstGeom>
          <a:noFill/>
        </p:spPr>
        <p:txBody>
          <a:bodyPr wrap="none" rtlCol="0">
            <a:spAutoFit/>
          </a:bodyPr>
          <a:lstStyle/>
          <a:p>
            <a:r>
              <a:rPr lang="tr-TR" sz="1700" dirty="0" err="1"/>
              <a:t>Based</a:t>
            </a:r>
            <a:r>
              <a:rPr lang="tr-TR" sz="1700" dirty="0"/>
              <a:t> on the </a:t>
            </a:r>
            <a:r>
              <a:rPr lang="tr-TR" sz="1700" dirty="0" err="1"/>
              <a:t>relevance</a:t>
            </a:r>
            <a:r>
              <a:rPr lang="tr-TR" sz="1700" dirty="0"/>
              <a:t> set I </a:t>
            </a:r>
            <a:r>
              <a:rPr lang="tr-TR" sz="1700" dirty="0" err="1"/>
              <a:t>decided</a:t>
            </a:r>
            <a:r>
              <a:rPr lang="tr-TR" sz="1700" dirty="0"/>
              <a:t> on, the Precision is </a:t>
            </a:r>
            <a:r>
              <a:rPr lang="tr-TR" sz="1700" dirty="0" err="1"/>
              <a:t>calculated</a:t>
            </a:r>
            <a:r>
              <a:rPr lang="tr-TR" sz="1700" dirty="0"/>
              <a:t> as 0.67</a:t>
            </a:r>
          </a:p>
        </p:txBody>
      </p:sp>
      <p:sp>
        <p:nvSpPr>
          <p:cNvPr id="15" name="Metin kutusu 14">
            <a:extLst>
              <a:ext uri="{FF2B5EF4-FFF2-40B4-BE49-F238E27FC236}">
                <a16:creationId xmlns:a16="http://schemas.microsoft.com/office/drawing/2014/main" id="{53B7DA9E-AC48-811D-DC49-A0ED4E85B3FA}"/>
              </a:ext>
            </a:extLst>
          </p:cNvPr>
          <p:cNvSpPr txBox="1"/>
          <p:nvPr/>
        </p:nvSpPr>
        <p:spPr>
          <a:xfrm>
            <a:off x="377073" y="243673"/>
            <a:ext cx="4637936" cy="400110"/>
          </a:xfrm>
          <a:prstGeom prst="rect">
            <a:avLst/>
          </a:prstGeom>
          <a:noFill/>
        </p:spPr>
        <p:txBody>
          <a:bodyPr wrap="none" rtlCol="0">
            <a:spAutoFit/>
          </a:bodyPr>
          <a:lstStyle/>
          <a:p>
            <a:r>
              <a:rPr lang="tr-TR" sz="2000" dirty="0" err="1"/>
              <a:t>Next</a:t>
            </a:r>
            <a:r>
              <a:rPr lang="tr-TR" sz="2000" dirty="0"/>
              <a:t> I </a:t>
            </a:r>
            <a:r>
              <a:rPr lang="tr-TR" sz="2000" dirty="0" err="1"/>
              <a:t>choose</a:t>
            </a:r>
            <a:r>
              <a:rPr lang="tr-TR" sz="2000" dirty="0"/>
              <a:t> ‘</a:t>
            </a:r>
            <a:r>
              <a:rPr lang="tr-TR" sz="2000" dirty="0" err="1"/>
              <a:t>canada</a:t>
            </a:r>
            <a:r>
              <a:rPr lang="tr-TR" sz="2000" dirty="0"/>
              <a:t> </a:t>
            </a:r>
            <a:r>
              <a:rPr lang="tr-TR" sz="2000" dirty="0" err="1"/>
              <a:t>elections</a:t>
            </a:r>
            <a:r>
              <a:rPr lang="tr-TR" sz="2000" dirty="0"/>
              <a:t>’ as a </a:t>
            </a:r>
            <a:r>
              <a:rPr lang="tr-TR" sz="2000" dirty="0" err="1"/>
              <a:t>query</a:t>
            </a:r>
            <a:endParaRPr lang="tr-TR" sz="2000" dirty="0"/>
          </a:p>
        </p:txBody>
      </p:sp>
      <p:pic>
        <p:nvPicPr>
          <p:cNvPr id="4" name="Resim 3">
            <a:extLst>
              <a:ext uri="{FF2B5EF4-FFF2-40B4-BE49-F238E27FC236}">
                <a16:creationId xmlns:a16="http://schemas.microsoft.com/office/drawing/2014/main" id="{686224A1-BB3A-66B1-AE3D-405A2FEDEBCE}"/>
              </a:ext>
            </a:extLst>
          </p:cNvPr>
          <p:cNvPicPr>
            <a:picLocks noChangeAspect="1"/>
          </p:cNvPicPr>
          <p:nvPr/>
        </p:nvPicPr>
        <p:blipFill>
          <a:blip r:embed="rId2"/>
          <a:stretch>
            <a:fillRect/>
          </a:stretch>
        </p:blipFill>
        <p:spPr>
          <a:xfrm>
            <a:off x="568265" y="707874"/>
            <a:ext cx="5776461" cy="1988992"/>
          </a:xfrm>
          <a:prstGeom prst="rect">
            <a:avLst/>
          </a:prstGeom>
        </p:spPr>
      </p:pic>
      <p:sp>
        <p:nvSpPr>
          <p:cNvPr id="6" name="Metin kutusu 5">
            <a:extLst>
              <a:ext uri="{FF2B5EF4-FFF2-40B4-BE49-F238E27FC236}">
                <a16:creationId xmlns:a16="http://schemas.microsoft.com/office/drawing/2014/main" id="{6E3F6E47-B0C8-0CFD-ABFC-983DD509F326}"/>
              </a:ext>
            </a:extLst>
          </p:cNvPr>
          <p:cNvSpPr txBox="1"/>
          <p:nvPr/>
        </p:nvSpPr>
        <p:spPr>
          <a:xfrm>
            <a:off x="1960775" y="3263375"/>
            <a:ext cx="9615340" cy="1138773"/>
          </a:xfrm>
          <a:prstGeom prst="rect">
            <a:avLst/>
          </a:prstGeom>
          <a:noFill/>
        </p:spPr>
        <p:txBody>
          <a:bodyPr wrap="square" rtlCol="0">
            <a:spAutoFit/>
          </a:bodyPr>
          <a:lstStyle/>
          <a:p>
            <a:r>
              <a:rPr lang="tr-TR" sz="1700" dirty="0"/>
              <a:t>But I </a:t>
            </a:r>
            <a:r>
              <a:rPr lang="tr-TR" sz="1700" dirty="0" err="1"/>
              <a:t>tried</a:t>
            </a:r>
            <a:r>
              <a:rPr lang="tr-TR" sz="1700" dirty="0"/>
              <a:t> </a:t>
            </a:r>
            <a:r>
              <a:rPr lang="tr-TR" sz="1700" dirty="0" err="1"/>
              <a:t>searching</a:t>
            </a:r>
            <a:r>
              <a:rPr lang="tr-TR" sz="1700" dirty="0"/>
              <a:t> for ‘</a:t>
            </a:r>
            <a:r>
              <a:rPr lang="tr-TR" sz="1700" dirty="0" err="1"/>
              <a:t>canada</a:t>
            </a:r>
            <a:r>
              <a:rPr lang="tr-TR" sz="1700" dirty="0"/>
              <a:t> </a:t>
            </a:r>
            <a:r>
              <a:rPr lang="tr-TR" sz="1700" dirty="0" err="1"/>
              <a:t>election</a:t>
            </a:r>
            <a:r>
              <a:rPr lang="tr-TR" sz="1700" dirty="0"/>
              <a:t>’ </a:t>
            </a:r>
            <a:r>
              <a:rPr lang="tr-TR" sz="1700" dirty="0" err="1"/>
              <a:t>and</a:t>
            </a:r>
            <a:r>
              <a:rPr lang="tr-TR" sz="1700" dirty="0"/>
              <a:t> </a:t>
            </a:r>
            <a:r>
              <a:rPr lang="tr-TR" sz="1700" dirty="0" err="1"/>
              <a:t>there</a:t>
            </a:r>
            <a:r>
              <a:rPr lang="tr-TR" sz="1700" dirty="0"/>
              <a:t> </a:t>
            </a:r>
            <a:r>
              <a:rPr lang="tr-TR" sz="1700" dirty="0" err="1"/>
              <a:t>were</a:t>
            </a:r>
            <a:r>
              <a:rPr lang="tr-TR" sz="1700" dirty="0"/>
              <a:t> </a:t>
            </a:r>
            <a:r>
              <a:rPr lang="tr-TR" sz="1700" dirty="0" err="1"/>
              <a:t>more</a:t>
            </a:r>
            <a:r>
              <a:rPr lang="tr-TR" sz="1700" dirty="0"/>
              <a:t> </a:t>
            </a:r>
            <a:r>
              <a:rPr lang="tr-TR" sz="1700" dirty="0" err="1"/>
              <a:t>retrieved</a:t>
            </a:r>
            <a:r>
              <a:rPr lang="tr-TR" sz="1700" dirty="0"/>
              <a:t> </a:t>
            </a:r>
            <a:r>
              <a:rPr lang="tr-TR" sz="1700" dirty="0" err="1"/>
              <a:t>documents</a:t>
            </a:r>
            <a:r>
              <a:rPr lang="tr-TR" sz="1700" dirty="0"/>
              <a:t>, </a:t>
            </a:r>
            <a:r>
              <a:rPr lang="tr-TR" sz="1700" dirty="0" err="1"/>
              <a:t>and</a:t>
            </a:r>
            <a:r>
              <a:rPr lang="tr-TR" sz="1700" dirty="0"/>
              <a:t> they </a:t>
            </a:r>
            <a:r>
              <a:rPr lang="tr-TR" sz="1700" dirty="0" err="1"/>
              <a:t>were</a:t>
            </a:r>
            <a:r>
              <a:rPr lang="tr-TR" sz="1700" dirty="0"/>
              <a:t> </a:t>
            </a:r>
            <a:r>
              <a:rPr lang="tr-TR" sz="1700" dirty="0" err="1"/>
              <a:t>indeed</a:t>
            </a:r>
            <a:r>
              <a:rPr lang="tr-TR" sz="1700" dirty="0"/>
              <a:t> </a:t>
            </a:r>
            <a:r>
              <a:rPr lang="tr-TR" sz="1700" dirty="0" err="1"/>
              <a:t>was</a:t>
            </a:r>
            <a:r>
              <a:rPr lang="tr-TR" sz="1700" dirty="0"/>
              <a:t> </a:t>
            </a:r>
            <a:r>
              <a:rPr lang="tr-TR" sz="1700" dirty="0" err="1"/>
              <a:t>relevant</a:t>
            </a:r>
            <a:r>
              <a:rPr lang="tr-TR" sz="1700" dirty="0"/>
              <a:t> </a:t>
            </a:r>
            <a:r>
              <a:rPr lang="tr-TR" sz="1700" dirty="0" err="1"/>
              <a:t>with</a:t>
            </a:r>
            <a:r>
              <a:rPr lang="tr-TR" sz="1700" dirty="0"/>
              <a:t> the </a:t>
            </a:r>
            <a:r>
              <a:rPr lang="tr-TR" sz="1700" dirty="0" err="1"/>
              <a:t>elections</a:t>
            </a:r>
            <a:r>
              <a:rPr lang="tr-TR" sz="1700" dirty="0"/>
              <a:t> in </a:t>
            </a:r>
            <a:r>
              <a:rPr lang="tr-TR" sz="1700" dirty="0" err="1"/>
              <a:t>Canada</a:t>
            </a:r>
            <a:r>
              <a:rPr lang="tr-TR" sz="1700" dirty="0"/>
              <a:t>. </a:t>
            </a:r>
            <a:r>
              <a:rPr lang="tr-TR" sz="1700" dirty="0" err="1"/>
              <a:t>So</a:t>
            </a:r>
            <a:r>
              <a:rPr lang="tr-TR" sz="1700" dirty="0"/>
              <a:t> </a:t>
            </a:r>
            <a:r>
              <a:rPr lang="tr-TR" sz="1700" dirty="0" err="1"/>
              <a:t>we</a:t>
            </a:r>
            <a:r>
              <a:rPr lang="tr-TR" sz="1700" dirty="0"/>
              <a:t> can say </a:t>
            </a:r>
            <a:r>
              <a:rPr lang="tr-TR" sz="1700" dirty="0" err="1"/>
              <a:t>that</a:t>
            </a:r>
            <a:r>
              <a:rPr lang="tr-TR" sz="1700" dirty="0"/>
              <a:t> </a:t>
            </a:r>
            <a:r>
              <a:rPr lang="tr-TR" sz="1700" dirty="0" err="1"/>
              <a:t>there</a:t>
            </a:r>
            <a:r>
              <a:rPr lang="tr-TR" sz="1700" dirty="0"/>
              <a:t> </a:t>
            </a:r>
            <a:r>
              <a:rPr lang="tr-TR" sz="1700" dirty="0" err="1"/>
              <a:t>were</a:t>
            </a:r>
            <a:r>
              <a:rPr lang="tr-TR" sz="1700" dirty="0"/>
              <a:t> ‘ </a:t>
            </a:r>
            <a:r>
              <a:rPr lang="tr-TR" sz="1700" u="sng" dirty="0" err="1"/>
              <a:t>false</a:t>
            </a:r>
            <a:r>
              <a:rPr lang="tr-TR" sz="1700" u="sng" dirty="0"/>
              <a:t> </a:t>
            </a:r>
            <a:r>
              <a:rPr lang="tr-TR" sz="1700" u="sng" dirty="0" err="1"/>
              <a:t>negatives</a:t>
            </a:r>
            <a:r>
              <a:rPr lang="tr-TR" sz="1700" dirty="0"/>
              <a:t>’ -</a:t>
            </a:r>
            <a:r>
              <a:rPr lang="en-US" sz="1700" dirty="0"/>
              <a:t>documents that were relevant but not retrieved. As a result, the precision for the earlier query was actually higher, but it does not mean the search was more effective</a:t>
            </a:r>
            <a:r>
              <a:rPr lang="tr-TR" sz="1700" dirty="0"/>
              <a:t>.</a:t>
            </a:r>
          </a:p>
        </p:txBody>
      </p:sp>
      <p:pic>
        <p:nvPicPr>
          <p:cNvPr id="8" name="Resim 7">
            <a:extLst>
              <a:ext uri="{FF2B5EF4-FFF2-40B4-BE49-F238E27FC236}">
                <a16:creationId xmlns:a16="http://schemas.microsoft.com/office/drawing/2014/main" id="{0A8518C7-0B27-7457-757A-75628807FD62}"/>
              </a:ext>
            </a:extLst>
          </p:cNvPr>
          <p:cNvPicPr>
            <a:picLocks noChangeAspect="1"/>
          </p:cNvPicPr>
          <p:nvPr/>
        </p:nvPicPr>
        <p:blipFill>
          <a:blip r:embed="rId3"/>
          <a:stretch>
            <a:fillRect/>
          </a:stretch>
        </p:blipFill>
        <p:spPr>
          <a:xfrm>
            <a:off x="1723047" y="4550623"/>
            <a:ext cx="10310754" cy="1996613"/>
          </a:xfrm>
          <a:prstGeom prst="rect">
            <a:avLst/>
          </a:prstGeom>
        </p:spPr>
      </p:pic>
    </p:spTree>
    <p:extLst>
      <p:ext uri="{BB962C8B-B14F-4D97-AF65-F5344CB8AC3E}">
        <p14:creationId xmlns:p14="http://schemas.microsoft.com/office/powerpoint/2010/main" val="3708196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41D9C-5F7F-9C30-885F-8D3177470C84}"/>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A5F3D9D-F359-F513-6A7A-62CDE7121065}"/>
              </a:ext>
            </a:extLst>
          </p:cNvPr>
          <p:cNvSpPr>
            <a:spLocks noGrp="1"/>
          </p:cNvSpPr>
          <p:nvPr>
            <p:ph idx="1"/>
          </p:nvPr>
        </p:nvSpPr>
        <p:spPr>
          <a:xfrm>
            <a:off x="6026326" y="595225"/>
            <a:ext cx="6685935" cy="3229449"/>
          </a:xfrm>
        </p:spPr>
        <p:txBody>
          <a:bodyPr>
            <a:normAutofit/>
          </a:bodyPr>
          <a:lstStyle/>
          <a:p>
            <a:pPr marL="0" indent="0">
              <a:buNone/>
            </a:pPr>
            <a:r>
              <a:rPr lang="tr-TR" sz="2000" dirty="0"/>
              <a:t>The </a:t>
            </a:r>
            <a:r>
              <a:rPr lang="tr-TR" sz="2000" dirty="0" err="1"/>
              <a:t>titles</a:t>
            </a:r>
            <a:r>
              <a:rPr lang="tr-TR" sz="2000" dirty="0"/>
              <a:t> of </a:t>
            </a:r>
            <a:r>
              <a:rPr lang="tr-TR" sz="2000" dirty="0" err="1"/>
              <a:t>articles</a:t>
            </a:r>
            <a:r>
              <a:rPr lang="tr-TR" sz="2000" dirty="0"/>
              <a:t> </a:t>
            </a:r>
            <a:r>
              <a:rPr lang="tr-TR" sz="2000" dirty="0" err="1"/>
              <a:t>that</a:t>
            </a:r>
            <a:r>
              <a:rPr lang="tr-TR" sz="2000" dirty="0"/>
              <a:t> I </a:t>
            </a:r>
            <a:r>
              <a:rPr lang="tr-TR" sz="2000" dirty="0" err="1"/>
              <a:t>found</a:t>
            </a:r>
            <a:r>
              <a:rPr lang="tr-TR" sz="2000" dirty="0"/>
              <a:t> </a:t>
            </a:r>
            <a:r>
              <a:rPr lang="tr-TR" sz="2000" dirty="0" err="1"/>
              <a:t>relevant</a:t>
            </a:r>
            <a:r>
              <a:rPr lang="tr-TR" sz="2000" dirty="0"/>
              <a:t>:</a:t>
            </a:r>
          </a:p>
          <a:p>
            <a:pPr marL="0" indent="0">
              <a:buNone/>
            </a:pPr>
            <a:r>
              <a:rPr lang="en-US" sz="1400" dirty="0"/>
              <a:t>GERMAN PARLIAMENT PASSES HISTORIC DEBT REFORM, PAVING THE WAY FOR</a:t>
            </a:r>
          </a:p>
          <a:p>
            <a:pPr marL="0" indent="0">
              <a:buNone/>
            </a:pPr>
            <a:r>
              <a:rPr lang="en-US" sz="1400" dirty="0"/>
              <a:t>HIGHER DEFENSE SPEND</a:t>
            </a:r>
            <a:endParaRPr lang="tr-TR" sz="1400" dirty="0"/>
          </a:p>
        </p:txBody>
      </p:sp>
      <p:sp>
        <p:nvSpPr>
          <p:cNvPr id="14" name="Metin kutusu 13">
            <a:extLst>
              <a:ext uri="{FF2B5EF4-FFF2-40B4-BE49-F238E27FC236}">
                <a16:creationId xmlns:a16="http://schemas.microsoft.com/office/drawing/2014/main" id="{E07BD6DF-A3AD-61B2-EC0D-88A75C86EFE2}"/>
              </a:ext>
            </a:extLst>
          </p:cNvPr>
          <p:cNvSpPr txBox="1"/>
          <p:nvPr/>
        </p:nvSpPr>
        <p:spPr>
          <a:xfrm>
            <a:off x="5710088" y="1701824"/>
            <a:ext cx="6685935" cy="346249"/>
          </a:xfrm>
          <a:prstGeom prst="rect">
            <a:avLst/>
          </a:prstGeom>
          <a:noFill/>
        </p:spPr>
        <p:txBody>
          <a:bodyPr wrap="square" rtlCol="0">
            <a:spAutoFit/>
          </a:bodyPr>
          <a:lstStyle/>
          <a:p>
            <a:r>
              <a:rPr lang="tr-TR" sz="1650" dirty="0" err="1"/>
              <a:t>Based</a:t>
            </a:r>
            <a:r>
              <a:rPr lang="tr-TR" sz="1650" dirty="0"/>
              <a:t> on the </a:t>
            </a:r>
            <a:r>
              <a:rPr lang="tr-TR" sz="1650" dirty="0" err="1"/>
              <a:t>relevance</a:t>
            </a:r>
            <a:r>
              <a:rPr lang="tr-TR" sz="1650" dirty="0"/>
              <a:t> set I </a:t>
            </a:r>
            <a:r>
              <a:rPr lang="tr-TR" sz="1650" dirty="0" err="1"/>
              <a:t>decided</a:t>
            </a:r>
            <a:r>
              <a:rPr lang="tr-TR" sz="1650" dirty="0"/>
              <a:t> on, the Precision is </a:t>
            </a:r>
            <a:r>
              <a:rPr lang="tr-TR" sz="1650" dirty="0" err="1"/>
              <a:t>calculated</a:t>
            </a:r>
            <a:r>
              <a:rPr lang="tr-TR" sz="1650" dirty="0"/>
              <a:t> as 0.50</a:t>
            </a:r>
          </a:p>
        </p:txBody>
      </p:sp>
      <p:sp>
        <p:nvSpPr>
          <p:cNvPr id="15" name="Metin kutusu 14">
            <a:extLst>
              <a:ext uri="{FF2B5EF4-FFF2-40B4-BE49-F238E27FC236}">
                <a16:creationId xmlns:a16="http://schemas.microsoft.com/office/drawing/2014/main" id="{7E5A1348-8700-F9AD-95BB-AE9C24AC66F0}"/>
              </a:ext>
            </a:extLst>
          </p:cNvPr>
          <p:cNvSpPr txBox="1"/>
          <p:nvPr/>
        </p:nvSpPr>
        <p:spPr>
          <a:xfrm>
            <a:off x="377073" y="243673"/>
            <a:ext cx="4687117" cy="400110"/>
          </a:xfrm>
          <a:prstGeom prst="rect">
            <a:avLst/>
          </a:prstGeom>
          <a:noFill/>
        </p:spPr>
        <p:txBody>
          <a:bodyPr wrap="none" rtlCol="0">
            <a:spAutoFit/>
          </a:bodyPr>
          <a:lstStyle/>
          <a:p>
            <a:r>
              <a:rPr lang="tr-TR" sz="2000" dirty="0" err="1"/>
              <a:t>Next</a:t>
            </a:r>
            <a:r>
              <a:rPr lang="tr-TR" sz="2000" dirty="0"/>
              <a:t> I </a:t>
            </a:r>
            <a:r>
              <a:rPr lang="tr-TR" sz="2000" dirty="0" err="1"/>
              <a:t>choose</a:t>
            </a:r>
            <a:r>
              <a:rPr lang="tr-TR" sz="2000" dirty="0"/>
              <a:t> ‘</a:t>
            </a:r>
            <a:r>
              <a:rPr lang="tr-TR" sz="2000" dirty="0" err="1"/>
              <a:t>germany</a:t>
            </a:r>
            <a:r>
              <a:rPr lang="tr-TR" sz="2000" dirty="0"/>
              <a:t> </a:t>
            </a:r>
            <a:r>
              <a:rPr lang="tr-TR" sz="2000" dirty="0" err="1"/>
              <a:t>defense</a:t>
            </a:r>
            <a:r>
              <a:rPr lang="tr-TR" sz="2000" dirty="0"/>
              <a:t>’ as a </a:t>
            </a:r>
            <a:r>
              <a:rPr lang="tr-TR" sz="2000" dirty="0" err="1"/>
              <a:t>query</a:t>
            </a:r>
            <a:endParaRPr lang="tr-TR" sz="2000" dirty="0"/>
          </a:p>
        </p:txBody>
      </p:sp>
      <p:pic>
        <p:nvPicPr>
          <p:cNvPr id="4" name="Resim 3">
            <a:extLst>
              <a:ext uri="{FF2B5EF4-FFF2-40B4-BE49-F238E27FC236}">
                <a16:creationId xmlns:a16="http://schemas.microsoft.com/office/drawing/2014/main" id="{669B2CBE-D421-82BD-CD95-841FCFA1299F}"/>
              </a:ext>
            </a:extLst>
          </p:cNvPr>
          <p:cNvPicPr>
            <a:picLocks noChangeAspect="1"/>
          </p:cNvPicPr>
          <p:nvPr/>
        </p:nvPicPr>
        <p:blipFill>
          <a:blip r:embed="rId2"/>
          <a:stretch>
            <a:fillRect/>
          </a:stretch>
        </p:blipFill>
        <p:spPr>
          <a:xfrm>
            <a:off x="238096" y="673035"/>
            <a:ext cx="5380186" cy="2057578"/>
          </a:xfrm>
          <a:prstGeom prst="rect">
            <a:avLst/>
          </a:prstGeom>
        </p:spPr>
      </p:pic>
      <p:sp>
        <p:nvSpPr>
          <p:cNvPr id="6" name="Metin kutusu 5">
            <a:extLst>
              <a:ext uri="{FF2B5EF4-FFF2-40B4-BE49-F238E27FC236}">
                <a16:creationId xmlns:a16="http://schemas.microsoft.com/office/drawing/2014/main" id="{EFD59726-425A-04FF-731F-07073B125191}"/>
              </a:ext>
            </a:extLst>
          </p:cNvPr>
          <p:cNvSpPr txBox="1"/>
          <p:nvPr/>
        </p:nvSpPr>
        <p:spPr>
          <a:xfrm>
            <a:off x="84843" y="2976611"/>
            <a:ext cx="11772860" cy="615553"/>
          </a:xfrm>
          <a:prstGeom prst="rect">
            <a:avLst/>
          </a:prstGeom>
          <a:noFill/>
        </p:spPr>
        <p:txBody>
          <a:bodyPr wrap="square" rtlCol="0">
            <a:spAutoFit/>
          </a:bodyPr>
          <a:lstStyle/>
          <a:p>
            <a:r>
              <a:rPr lang="tr-TR" sz="1700" dirty="0" err="1"/>
              <a:t>However</a:t>
            </a:r>
            <a:r>
              <a:rPr lang="tr-TR" sz="1700" dirty="0"/>
              <a:t> </a:t>
            </a:r>
            <a:r>
              <a:rPr lang="tr-TR" sz="1700" dirty="0" err="1"/>
              <a:t>again</a:t>
            </a:r>
            <a:r>
              <a:rPr lang="tr-TR" sz="1700" dirty="0"/>
              <a:t>, it </a:t>
            </a:r>
            <a:r>
              <a:rPr lang="tr-TR" sz="1700" dirty="0" err="1"/>
              <a:t>seemed</a:t>
            </a:r>
            <a:r>
              <a:rPr lang="tr-TR" sz="1700" dirty="0"/>
              <a:t> </a:t>
            </a:r>
            <a:r>
              <a:rPr lang="tr-TR" sz="1700" dirty="0" err="1"/>
              <a:t>like</a:t>
            </a:r>
            <a:r>
              <a:rPr lang="tr-TR" sz="1700" dirty="0"/>
              <a:t> not </a:t>
            </a:r>
            <a:r>
              <a:rPr lang="tr-TR" sz="1700" dirty="0" err="1"/>
              <a:t>all</a:t>
            </a:r>
            <a:r>
              <a:rPr lang="tr-TR" sz="1700" dirty="0"/>
              <a:t> the </a:t>
            </a:r>
            <a:r>
              <a:rPr lang="tr-TR" sz="1700" dirty="0" err="1"/>
              <a:t>relevant</a:t>
            </a:r>
            <a:r>
              <a:rPr lang="tr-TR" sz="1700" dirty="0"/>
              <a:t> </a:t>
            </a:r>
            <a:r>
              <a:rPr lang="tr-TR" sz="1700" dirty="0" err="1"/>
              <a:t>documents</a:t>
            </a:r>
            <a:r>
              <a:rPr lang="tr-TR" sz="1700" dirty="0"/>
              <a:t> </a:t>
            </a:r>
            <a:r>
              <a:rPr lang="tr-TR" sz="1700" dirty="0" err="1"/>
              <a:t>were</a:t>
            </a:r>
            <a:r>
              <a:rPr lang="tr-TR" sz="1700" dirty="0"/>
              <a:t> </a:t>
            </a:r>
            <a:r>
              <a:rPr lang="tr-TR" sz="1700" dirty="0" err="1"/>
              <a:t>retrieved</a:t>
            </a:r>
            <a:r>
              <a:rPr lang="tr-TR" sz="1700" dirty="0"/>
              <a:t> </a:t>
            </a:r>
            <a:r>
              <a:rPr lang="tr-TR" sz="1700" dirty="0" err="1"/>
              <a:t>causing</a:t>
            </a:r>
            <a:r>
              <a:rPr lang="tr-TR" sz="1700" dirty="0"/>
              <a:t> ‘</a:t>
            </a:r>
            <a:r>
              <a:rPr lang="tr-TR" sz="1700" dirty="0" err="1"/>
              <a:t>false</a:t>
            </a:r>
            <a:r>
              <a:rPr lang="tr-TR" sz="1700" dirty="0"/>
              <a:t> </a:t>
            </a:r>
            <a:r>
              <a:rPr lang="tr-TR" sz="1700" dirty="0" err="1"/>
              <a:t>negatives</a:t>
            </a:r>
            <a:r>
              <a:rPr lang="tr-TR" sz="1700" dirty="0"/>
              <a:t>’ </a:t>
            </a:r>
            <a:r>
              <a:rPr lang="tr-TR" sz="1700" dirty="0" err="1"/>
              <a:t>so</a:t>
            </a:r>
            <a:r>
              <a:rPr lang="tr-TR" sz="1700" dirty="0"/>
              <a:t> I </a:t>
            </a:r>
            <a:r>
              <a:rPr lang="tr-TR" sz="1700" dirty="0" err="1"/>
              <a:t>checked</a:t>
            </a:r>
            <a:r>
              <a:rPr lang="tr-TR" sz="1700" dirty="0"/>
              <a:t> </a:t>
            </a:r>
            <a:r>
              <a:rPr lang="tr-TR" sz="1700" dirty="0" err="1"/>
              <a:t>some</a:t>
            </a:r>
            <a:r>
              <a:rPr lang="tr-TR" sz="1700" dirty="0"/>
              <a:t> </a:t>
            </a:r>
            <a:r>
              <a:rPr lang="tr-TR" sz="1700" dirty="0" err="1"/>
              <a:t>articles</a:t>
            </a:r>
            <a:r>
              <a:rPr lang="tr-TR" sz="1700" dirty="0"/>
              <a:t> </a:t>
            </a:r>
            <a:r>
              <a:rPr lang="tr-TR" sz="1700" dirty="0" err="1"/>
              <a:t>manually</a:t>
            </a:r>
            <a:r>
              <a:rPr lang="tr-TR" sz="1700" dirty="0"/>
              <a:t>; </a:t>
            </a:r>
            <a:r>
              <a:rPr lang="tr-TR" sz="1700" dirty="0" err="1"/>
              <a:t>and</a:t>
            </a:r>
            <a:r>
              <a:rPr lang="tr-TR" sz="1700" dirty="0"/>
              <a:t> </a:t>
            </a:r>
            <a:r>
              <a:rPr lang="tr-TR" sz="1700" dirty="0" err="1"/>
              <a:t>found</a:t>
            </a:r>
            <a:r>
              <a:rPr lang="tr-TR" sz="1700" dirty="0"/>
              <a:t> </a:t>
            </a:r>
            <a:r>
              <a:rPr lang="tr-TR" sz="1700" dirty="0" err="1"/>
              <a:t>out</a:t>
            </a:r>
            <a:r>
              <a:rPr lang="tr-TR" sz="1700" dirty="0"/>
              <a:t> in </a:t>
            </a:r>
            <a:r>
              <a:rPr lang="tr-TR" sz="1700" dirty="0" err="1"/>
              <a:t>some</a:t>
            </a:r>
            <a:r>
              <a:rPr lang="tr-TR" sz="1700" dirty="0"/>
              <a:t> </a:t>
            </a:r>
            <a:r>
              <a:rPr lang="tr-TR" sz="1700" dirty="0" err="1"/>
              <a:t>articles</a:t>
            </a:r>
            <a:r>
              <a:rPr lang="tr-TR" sz="1700" dirty="0"/>
              <a:t> it is  </a:t>
            </a:r>
            <a:r>
              <a:rPr lang="tr-TR" sz="1700" dirty="0" err="1"/>
              <a:t>written</a:t>
            </a:r>
            <a:r>
              <a:rPr lang="tr-TR" sz="1700" dirty="0"/>
              <a:t> as ‘</a:t>
            </a:r>
            <a:r>
              <a:rPr lang="tr-TR" sz="1700" dirty="0" err="1"/>
              <a:t>defence</a:t>
            </a:r>
            <a:r>
              <a:rPr lang="tr-TR" sz="1700" dirty="0"/>
              <a:t>’ </a:t>
            </a:r>
            <a:r>
              <a:rPr lang="tr-TR" sz="1700" dirty="0" err="1"/>
              <a:t>instead</a:t>
            </a:r>
            <a:r>
              <a:rPr lang="tr-TR" sz="1700" dirty="0"/>
              <a:t> of ‘</a:t>
            </a:r>
            <a:r>
              <a:rPr lang="tr-TR" sz="1700" dirty="0" err="1"/>
              <a:t>defense</a:t>
            </a:r>
            <a:r>
              <a:rPr lang="tr-TR" sz="1700" dirty="0"/>
              <a:t>’:</a:t>
            </a:r>
          </a:p>
        </p:txBody>
      </p:sp>
      <p:pic>
        <p:nvPicPr>
          <p:cNvPr id="8" name="Resim 7">
            <a:extLst>
              <a:ext uri="{FF2B5EF4-FFF2-40B4-BE49-F238E27FC236}">
                <a16:creationId xmlns:a16="http://schemas.microsoft.com/office/drawing/2014/main" id="{3A5C8BE9-F0A4-17D9-B8F5-1E0B32EE646B}"/>
              </a:ext>
            </a:extLst>
          </p:cNvPr>
          <p:cNvPicPr>
            <a:picLocks noChangeAspect="1"/>
          </p:cNvPicPr>
          <p:nvPr/>
        </p:nvPicPr>
        <p:blipFill>
          <a:blip r:embed="rId3"/>
          <a:stretch>
            <a:fillRect/>
          </a:stretch>
        </p:blipFill>
        <p:spPr>
          <a:xfrm>
            <a:off x="125432" y="3756401"/>
            <a:ext cx="9243861" cy="2057578"/>
          </a:xfrm>
          <a:prstGeom prst="rect">
            <a:avLst/>
          </a:prstGeom>
        </p:spPr>
      </p:pic>
      <p:sp>
        <p:nvSpPr>
          <p:cNvPr id="9" name="Metin kutusu 8">
            <a:extLst>
              <a:ext uri="{FF2B5EF4-FFF2-40B4-BE49-F238E27FC236}">
                <a16:creationId xmlns:a16="http://schemas.microsoft.com/office/drawing/2014/main" id="{2135064F-2277-3E33-88E8-B0CA738DF6B8}"/>
              </a:ext>
            </a:extLst>
          </p:cNvPr>
          <p:cNvSpPr txBox="1"/>
          <p:nvPr/>
        </p:nvSpPr>
        <p:spPr>
          <a:xfrm>
            <a:off x="0" y="5978216"/>
            <a:ext cx="11250491" cy="646331"/>
          </a:xfrm>
          <a:prstGeom prst="rect">
            <a:avLst/>
          </a:prstGeom>
          <a:noFill/>
        </p:spPr>
        <p:txBody>
          <a:bodyPr wrap="square" rtlCol="0">
            <a:spAutoFit/>
          </a:bodyPr>
          <a:lstStyle/>
          <a:p>
            <a:r>
              <a:rPr lang="tr-TR" dirty="0"/>
              <a:t>The </a:t>
            </a:r>
            <a:r>
              <a:rPr lang="tr-TR" dirty="0" err="1"/>
              <a:t>second</a:t>
            </a:r>
            <a:r>
              <a:rPr lang="tr-TR" dirty="0"/>
              <a:t> </a:t>
            </a:r>
            <a:r>
              <a:rPr lang="tr-TR" dirty="0" err="1"/>
              <a:t>query</a:t>
            </a:r>
            <a:r>
              <a:rPr lang="tr-TR" dirty="0"/>
              <a:t> </a:t>
            </a:r>
            <a:r>
              <a:rPr lang="tr-TR" dirty="0" err="1"/>
              <a:t>results</a:t>
            </a:r>
            <a:r>
              <a:rPr lang="tr-TR" dirty="0"/>
              <a:t> </a:t>
            </a:r>
            <a:r>
              <a:rPr lang="tr-TR" dirty="0" err="1"/>
              <a:t>make</a:t>
            </a:r>
            <a:r>
              <a:rPr lang="tr-TR" dirty="0"/>
              <a:t> </a:t>
            </a:r>
            <a:r>
              <a:rPr lang="tr-TR" dirty="0" err="1"/>
              <a:t>more</a:t>
            </a:r>
            <a:r>
              <a:rPr lang="tr-TR" dirty="0"/>
              <a:t> sense but the </a:t>
            </a:r>
            <a:r>
              <a:rPr lang="tr-TR" dirty="0" err="1"/>
              <a:t>user</a:t>
            </a:r>
            <a:r>
              <a:rPr lang="tr-TR" dirty="0"/>
              <a:t> </a:t>
            </a:r>
            <a:r>
              <a:rPr lang="tr-TR" dirty="0" err="1"/>
              <a:t>may</a:t>
            </a:r>
            <a:r>
              <a:rPr lang="tr-TR" dirty="0"/>
              <a:t> </a:t>
            </a:r>
            <a:r>
              <a:rPr lang="tr-TR" dirty="0" err="1"/>
              <a:t>search</a:t>
            </a:r>
            <a:r>
              <a:rPr lang="tr-TR" dirty="0"/>
              <a:t> </a:t>
            </a:r>
            <a:r>
              <a:rPr lang="tr-TR" dirty="0" err="1"/>
              <a:t>with</a:t>
            </a:r>
            <a:r>
              <a:rPr lang="tr-TR" dirty="0"/>
              <a:t> </a:t>
            </a:r>
            <a:r>
              <a:rPr lang="tr-TR" dirty="0" err="1"/>
              <a:t>both</a:t>
            </a:r>
            <a:r>
              <a:rPr lang="tr-TR" dirty="0"/>
              <a:t> ‘</a:t>
            </a:r>
            <a:r>
              <a:rPr lang="tr-TR" dirty="0" err="1"/>
              <a:t>defence</a:t>
            </a:r>
            <a:r>
              <a:rPr lang="tr-TR" dirty="0"/>
              <a:t>’ </a:t>
            </a:r>
            <a:r>
              <a:rPr lang="tr-TR" dirty="0" err="1"/>
              <a:t>or</a:t>
            </a:r>
            <a:r>
              <a:rPr lang="tr-TR" dirty="0"/>
              <a:t> ‘</a:t>
            </a:r>
            <a:r>
              <a:rPr lang="tr-TR" dirty="0" err="1"/>
              <a:t>defense</a:t>
            </a:r>
            <a:r>
              <a:rPr lang="tr-TR" dirty="0"/>
              <a:t>’, </a:t>
            </a:r>
            <a:r>
              <a:rPr lang="tr-TR" dirty="0" err="1"/>
              <a:t>so</a:t>
            </a:r>
            <a:r>
              <a:rPr lang="tr-TR" dirty="0"/>
              <a:t> </a:t>
            </a:r>
            <a:r>
              <a:rPr lang="tr-TR" dirty="0" err="1"/>
              <a:t>there</a:t>
            </a:r>
            <a:r>
              <a:rPr lang="tr-TR" dirty="0"/>
              <a:t> is </a:t>
            </a:r>
            <a:r>
              <a:rPr lang="tr-TR" dirty="0" err="1"/>
              <a:t>room</a:t>
            </a:r>
            <a:r>
              <a:rPr lang="tr-TR" dirty="0"/>
              <a:t> for </a:t>
            </a:r>
            <a:r>
              <a:rPr lang="tr-TR" dirty="0" err="1"/>
              <a:t>improvement</a:t>
            </a:r>
            <a:r>
              <a:rPr lang="tr-TR" dirty="0"/>
              <a:t> for </a:t>
            </a:r>
            <a:r>
              <a:rPr lang="tr-TR" dirty="0" err="1"/>
              <a:t>cases</a:t>
            </a:r>
            <a:r>
              <a:rPr lang="tr-TR" dirty="0"/>
              <a:t> </a:t>
            </a:r>
            <a:r>
              <a:rPr lang="tr-TR" dirty="0" err="1"/>
              <a:t>like</a:t>
            </a:r>
            <a:r>
              <a:rPr lang="tr-TR" dirty="0"/>
              <a:t> </a:t>
            </a:r>
            <a:r>
              <a:rPr lang="tr-TR" dirty="0" err="1"/>
              <a:t>this</a:t>
            </a:r>
            <a:r>
              <a:rPr lang="tr-TR" dirty="0"/>
              <a:t>.</a:t>
            </a:r>
          </a:p>
        </p:txBody>
      </p:sp>
      <p:sp>
        <p:nvSpPr>
          <p:cNvPr id="10" name="Metin kutusu 9">
            <a:extLst>
              <a:ext uri="{FF2B5EF4-FFF2-40B4-BE49-F238E27FC236}">
                <a16:creationId xmlns:a16="http://schemas.microsoft.com/office/drawing/2014/main" id="{63E6DCE4-C91D-DC49-7823-FEE52B504D1D}"/>
              </a:ext>
            </a:extLst>
          </p:cNvPr>
          <p:cNvSpPr txBox="1"/>
          <p:nvPr/>
        </p:nvSpPr>
        <p:spPr>
          <a:xfrm>
            <a:off x="9462680" y="3650378"/>
            <a:ext cx="2822707" cy="2205668"/>
          </a:xfrm>
          <a:prstGeom prst="rect">
            <a:avLst/>
          </a:prstGeom>
          <a:noFill/>
        </p:spPr>
        <p:txBody>
          <a:bodyPr wrap="square" rtlCol="0">
            <a:spAutoFit/>
          </a:bodyPr>
          <a:lstStyle/>
          <a:p>
            <a:pPr>
              <a:lnSpc>
                <a:spcPct val="150000"/>
              </a:lnSpc>
            </a:pPr>
            <a:r>
              <a:rPr lang="tr-TR" sz="1700" dirty="0"/>
              <a:t>The </a:t>
            </a:r>
            <a:r>
              <a:rPr lang="tr-TR" sz="1700" dirty="0" err="1"/>
              <a:t>retrieved</a:t>
            </a:r>
            <a:r>
              <a:rPr lang="tr-TR" sz="1700" dirty="0"/>
              <a:t> </a:t>
            </a:r>
            <a:r>
              <a:rPr lang="tr-TR" sz="1700" dirty="0" err="1"/>
              <a:t>documents</a:t>
            </a:r>
            <a:r>
              <a:rPr lang="tr-TR" sz="1700" dirty="0"/>
              <a:t> </a:t>
            </a:r>
            <a:r>
              <a:rPr lang="tr-TR" sz="1700" dirty="0" err="1"/>
              <a:t>were</a:t>
            </a:r>
            <a:r>
              <a:rPr lang="tr-TR" sz="1700" dirty="0"/>
              <a:t> </a:t>
            </a:r>
            <a:r>
              <a:rPr lang="tr-TR" sz="1700" dirty="0" err="1"/>
              <a:t>indeed</a:t>
            </a:r>
            <a:r>
              <a:rPr lang="tr-TR" sz="1700" dirty="0"/>
              <a:t> </a:t>
            </a:r>
            <a:r>
              <a:rPr lang="tr-TR" sz="1700" dirty="0" err="1"/>
              <a:t>relevant</a:t>
            </a:r>
            <a:r>
              <a:rPr lang="tr-TR" sz="1700" dirty="0"/>
              <a:t> </a:t>
            </a:r>
            <a:r>
              <a:rPr lang="tr-TR" sz="1700" dirty="0" err="1"/>
              <a:t>with</a:t>
            </a:r>
            <a:r>
              <a:rPr lang="tr-TR" sz="1700" dirty="0"/>
              <a:t> </a:t>
            </a:r>
            <a:r>
              <a:rPr lang="tr-TR" sz="1700" dirty="0" err="1"/>
              <a:t>article</a:t>
            </a:r>
            <a:r>
              <a:rPr lang="tr-TR" sz="1700" dirty="0"/>
              <a:t> </a:t>
            </a:r>
            <a:r>
              <a:rPr lang="tr-TR" sz="1700" dirty="0" err="1"/>
              <a:t>titles</a:t>
            </a:r>
            <a:r>
              <a:rPr lang="tr-TR" sz="1700" dirty="0"/>
              <a:t> </a:t>
            </a:r>
            <a:r>
              <a:rPr lang="tr-TR" sz="1700" dirty="0" err="1"/>
              <a:t>like</a:t>
            </a:r>
            <a:r>
              <a:rPr lang="tr-TR" sz="1700" dirty="0"/>
              <a:t>: </a:t>
            </a:r>
          </a:p>
          <a:p>
            <a:pPr>
              <a:lnSpc>
                <a:spcPct val="150000"/>
              </a:lnSpc>
            </a:pPr>
            <a:r>
              <a:rPr lang="en-US" sz="1400" dirty="0"/>
              <a:t>GERMANY SET TO VOTE ON HISTORIC INCREASE IN DEFENCE SPENDING</a:t>
            </a:r>
            <a:endParaRPr lang="tr-TR" sz="1400" dirty="0"/>
          </a:p>
        </p:txBody>
      </p:sp>
    </p:spTree>
    <p:extLst>
      <p:ext uri="{BB962C8B-B14F-4D97-AF65-F5344CB8AC3E}">
        <p14:creationId xmlns:p14="http://schemas.microsoft.com/office/powerpoint/2010/main" val="2622617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C5069-CB45-55A1-3E49-535223596409}"/>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D3AD948-71DB-810D-543E-0FB6C777BB83}"/>
              </a:ext>
            </a:extLst>
          </p:cNvPr>
          <p:cNvSpPr>
            <a:spLocks noGrp="1"/>
          </p:cNvSpPr>
          <p:nvPr>
            <p:ph idx="1"/>
          </p:nvPr>
        </p:nvSpPr>
        <p:spPr>
          <a:xfrm>
            <a:off x="166726" y="791852"/>
            <a:ext cx="11805315" cy="6066147"/>
          </a:xfrm>
        </p:spPr>
        <p:txBody>
          <a:bodyPr>
            <a:normAutofit/>
          </a:bodyPr>
          <a:lstStyle/>
          <a:p>
            <a:pPr marL="0" indent="0">
              <a:lnSpc>
                <a:spcPct val="100000"/>
              </a:lnSpc>
              <a:buNone/>
            </a:pPr>
            <a:r>
              <a:rPr lang="tr-TR" sz="1600" dirty="0" err="1"/>
              <a:t>During</a:t>
            </a:r>
            <a:r>
              <a:rPr lang="tr-TR" sz="1600" dirty="0"/>
              <a:t> the </a:t>
            </a:r>
            <a:r>
              <a:rPr lang="tr-TR" sz="1600" dirty="0" err="1"/>
              <a:t>testing</a:t>
            </a:r>
            <a:r>
              <a:rPr lang="tr-TR" sz="1600" dirty="0"/>
              <a:t>, </a:t>
            </a:r>
            <a:r>
              <a:rPr lang="tr-TR" sz="1600" dirty="0" err="1"/>
              <a:t>various</a:t>
            </a:r>
            <a:r>
              <a:rPr lang="tr-TR" sz="1600" dirty="0"/>
              <a:t> </a:t>
            </a:r>
            <a:r>
              <a:rPr lang="tr-TR" sz="1600" dirty="0" err="1"/>
              <a:t>queries</a:t>
            </a:r>
            <a:r>
              <a:rPr lang="tr-TR" sz="1600" dirty="0"/>
              <a:t> </a:t>
            </a:r>
            <a:r>
              <a:rPr lang="tr-TR" sz="1600" dirty="0" err="1"/>
              <a:t>have</a:t>
            </a:r>
            <a:r>
              <a:rPr lang="tr-TR" sz="1600" dirty="0"/>
              <a:t> </a:t>
            </a:r>
            <a:r>
              <a:rPr lang="tr-TR" sz="1600" dirty="0" err="1"/>
              <a:t>been</a:t>
            </a:r>
            <a:r>
              <a:rPr lang="tr-TR" sz="1600" dirty="0"/>
              <a:t> </a:t>
            </a:r>
            <a:r>
              <a:rPr lang="tr-TR" sz="1600" dirty="0" err="1"/>
              <a:t>searched</a:t>
            </a:r>
            <a:r>
              <a:rPr lang="tr-TR" sz="1600" dirty="0"/>
              <a:t> </a:t>
            </a:r>
            <a:r>
              <a:rPr lang="tr-TR" sz="1600" dirty="0" err="1"/>
              <a:t>with</a:t>
            </a:r>
            <a:r>
              <a:rPr lang="tr-TR" sz="1600" dirty="0"/>
              <a:t> a </a:t>
            </a:r>
            <a:r>
              <a:rPr lang="tr-TR" sz="1600" dirty="0" err="1"/>
              <a:t>Boolean</a:t>
            </a:r>
            <a:r>
              <a:rPr lang="tr-TR" sz="1600" dirty="0"/>
              <a:t> </a:t>
            </a:r>
            <a:r>
              <a:rPr lang="tr-TR" sz="1600" dirty="0" err="1"/>
              <a:t>Retrieval</a:t>
            </a:r>
            <a:r>
              <a:rPr lang="tr-TR" sz="1600" dirty="0"/>
              <a:t> Model , </a:t>
            </a:r>
            <a:r>
              <a:rPr lang="tr-TR" sz="1600" dirty="0" err="1"/>
              <a:t>and</a:t>
            </a:r>
            <a:r>
              <a:rPr lang="tr-TR" sz="1600" dirty="0"/>
              <a:t> here </a:t>
            </a:r>
            <a:r>
              <a:rPr lang="tr-TR" sz="1600" dirty="0" err="1"/>
              <a:t>are</a:t>
            </a:r>
            <a:r>
              <a:rPr lang="tr-TR" sz="1600" dirty="0"/>
              <a:t> </a:t>
            </a:r>
            <a:r>
              <a:rPr lang="tr-TR" sz="1600" dirty="0" err="1"/>
              <a:t>some</a:t>
            </a:r>
            <a:r>
              <a:rPr lang="tr-TR" sz="1600" dirty="0"/>
              <a:t> </a:t>
            </a:r>
            <a:r>
              <a:rPr lang="tr-TR" sz="1600" dirty="0" err="1"/>
              <a:t>key</a:t>
            </a:r>
            <a:r>
              <a:rPr lang="tr-TR" sz="1600" dirty="0"/>
              <a:t> </a:t>
            </a:r>
            <a:r>
              <a:rPr lang="tr-TR" sz="1600" dirty="0" err="1"/>
              <a:t>aspects</a:t>
            </a:r>
            <a:r>
              <a:rPr lang="tr-TR" sz="1600" dirty="0"/>
              <a:t> </a:t>
            </a:r>
            <a:r>
              <a:rPr lang="tr-TR" sz="1600" dirty="0" err="1"/>
              <a:t>that</a:t>
            </a:r>
            <a:r>
              <a:rPr lang="tr-TR" sz="1600" dirty="0"/>
              <a:t> can be </a:t>
            </a:r>
            <a:r>
              <a:rPr lang="tr-TR" sz="1600" dirty="0" err="1"/>
              <a:t>derived</a:t>
            </a:r>
            <a:r>
              <a:rPr lang="tr-TR" sz="1600" dirty="0"/>
              <a:t> </a:t>
            </a:r>
            <a:r>
              <a:rPr lang="tr-TR" sz="1600" dirty="0" err="1"/>
              <a:t>from</a:t>
            </a:r>
            <a:r>
              <a:rPr lang="tr-TR" sz="1600" dirty="0"/>
              <a:t> </a:t>
            </a:r>
            <a:r>
              <a:rPr lang="tr-TR" sz="1600" dirty="0" err="1"/>
              <a:t>these</a:t>
            </a:r>
            <a:r>
              <a:rPr lang="tr-TR" sz="1600" dirty="0"/>
              <a:t> </a:t>
            </a:r>
            <a:r>
              <a:rPr lang="tr-TR" sz="1600" dirty="0" err="1"/>
              <a:t>tests</a:t>
            </a:r>
            <a:r>
              <a:rPr lang="tr-TR" sz="1600" dirty="0"/>
              <a:t>: </a:t>
            </a:r>
          </a:p>
          <a:p>
            <a:pPr>
              <a:lnSpc>
                <a:spcPct val="100000"/>
              </a:lnSpc>
            </a:pPr>
            <a:r>
              <a:rPr lang="en-US" sz="1600" b="1" dirty="0"/>
              <a:t>Impact of Query Wording:</a:t>
            </a:r>
            <a:r>
              <a:rPr lang="tr-TR" sz="1600" b="1" dirty="0"/>
              <a:t> </a:t>
            </a:r>
            <a:r>
              <a:rPr lang="en-US" sz="1600" dirty="0"/>
              <a:t>Searches for "Canada election" vs. "Canada elections" resulted in different sets of retrieved documents. This shows how singular vs. plural forms affect retrieval, as the Boolean model strictly matches words without considering linguistic variations.</a:t>
            </a:r>
            <a:endParaRPr lang="tr-TR" sz="1600" dirty="0"/>
          </a:p>
          <a:p>
            <a:pPr>
              <a:lnSpc>
                <a:spcPct val="100000"/>
              </a:lnSpc>
            </a:pPr>
            <a:r>
              <a:rPr lang="en-US" sz="1600" dirty="0"/>
              <a:t>Similarly, "Germany </a:t>
            </a:r>
            <a:r>
              <a:rPr lang="en-US" sz="1600" dirty="0" err="1"/>
              <a:t>defence</a:t>
            </a:r>
            <a:r>
              <a:rPr lang="en-US" sz="1600" dirty="0"/>
              <a:t>" vs. "Germany defense" retrieved different documents due to spelling differences between British and American English. This demonstrates a limitation of exact word matching in Boolean retrieval.</a:t>
            </a:r>
            <a:endParaRPr lang="tr-TR" sz="1600" dirty="0"/>
          </a:p>
          <a:p>
            <a:pPr>
              <a:lnSpc>
                <a:spcPct val="100000"/>
              </a:lnSpc>
            </a:pPr>
            <a:r>
              <a:rPr lang="en-US" sz="1600" b="1" dirty="0"/>
              <a:t>False Negatives and Missed Documents:</a:t>
            </a:r>
            <a:r>
              <a:rPr lang="tr-TR" sz="1600" b="1" dirty="0"/>
              <a:t> </a:t>
            </a:r>
            <a:r>
              <a:rPr lang="en-US" sz="1600" dirty="0"/>
              <a:t>In some cases, relevant documents were missing from the retrieved set (false negatives). This happened when the search terms did not exactly match words in the documents, reducing recall.</a:t>
            </a:r>
            <a:endParaRPr lang="tr-TR" sz="1600" dirty="0"/>
          </a:p>
          <a:p>
            <a:pPr>
              <a:lnSpc>
                <a:spcPct val="100000"/>
              </a:lnSpc>
            </a:pPr>
            <a:r>
              <a:rPr lang="en-US" sz="1600" b="1" dirty="0"/>
              <a:t>Manual Identification of Relevant Documents</a:t>
            </a:r>
            <a:r>
              <a:rPr lang="en-US" sz="1600" dirty="0"/>
              <a:t>:</a:t>
            </a:r>
            <a:r>
              <a:rPr lang="tr-TR" sz="1600" dirty="0"/>
              <a:t> </a:t>
            </a:r>
            <a:r>
              <a:rPr lang="en-US" sz="1600" dirty="0"/>
              <a:t>The Boolean model does not automatically determine which documents are truly relevant to the user’s intent. Instead, after retrieving results, relevant documents had to be manually checked to compare them against the retrieved set.</a:t>
            </a:r>
            <a:endParaRPr lang="tr-TR" sz="1600" dirty="0"/>
          </a:p>
          <a:p>
            <a:pPr marL="0" indent="0">
              <a:lnSpc>
                <a:spcPct val="100000"/>
              </a:lnSpc>
              <a:buNone/>
            </a:pPr>
            <a:endParaRPr lang="tr-TR" sz="1800" b="1" dirty="0"/>
          </a:p>
          <a:p>
            <a:pPr marL="0" indent="0">
              <a:lnSpc>
                <a:spcPct val="110000"/>
              </a:lnSpc>
              <a:buNone/>
            </a:pPr>
            <a:r>
              <a:rPr lang="en-US" sz="1800" b="1" dirty="0"/>
              <a:t>Possible Improvements for Better Testing</a:t>
            </a:r>
            <a:r>
              <a:rPr lang="tr-TR" sz="1800" b="1" dirty="0"/>
              <a:t>:</a:t>
            </a:r>
          </a:p>
          <a:p>
            <a:pPr marL="0" indent="0">
              <a:lnSpc>
                <a:spcPct val="110000"/>
              </a:lnSpc>
              <a:buNone/>
            </a:pPr>
            <a:r>
              <a:rPr lang="tr-TR" sz="1600" dirty="0"/>
              <a:t> </a:t>
            </a:r>
            <a:r>
              <a:rPr lang="en-US" sz="1600" dirty="0"/>
              <a:t>First, </a:t>
            </a:r>
            <a:r>
              <a:rPr lang="en-US" sz="1600" u="sng" dirty="0"/>
              <a:t>expanding the dataset </a:t>
            </a:r>
            <a:r>
              <a:rPr lang="en-US" sz="1600" dirty="0"/>
              <a:t>by including more diverse and larger collections of documents would provide a better understanding of how the model performs across different topics and writing styles. Additionally, incorporating a </a:t>
            </a:r>
            <a:r>
              <a:rPr lang="en-US" sz="1600" u="sng" dirty="0"/>
              <a:t>predefined relevance judgment set</a:t>
            </a:r>
            <a:r>
              <a:rPr lang="en-US" sz="1600" dirty="0"/>
              <a:t>—such as </a:t>
            </a:r>
            <a:r>
              <a:rPr lang="en-US" sz="1600" u="sng" dirty="0"/>
              <a:t>having multiple users</a:t>
            </a:r>
            <a:r>
              <a:rPr lang="en-US" sz="1600" dirty="0"/>
              <a:t> independently assess which documents are truly relevant—would make precision and recall measurements more objective, reducing the bias of manual selection. Another improvement could be allowing phrase searches or </a:t>
            </a:r>
            <a:r>
              <a:rPr lang="en-US" sz="1600" u="sng" dirty="0"/>
              <a:t>synonym expansion</a:t>
            </a:r>
            <a:r>
              <a:rPr lang="en-US" sz="1600" dirty="0"/>
              <a:t>, which would help mitigate issues where small variations in query wording lead to different results. </a:t>
            </a:r>
            <a:endParaRPr lang="tr-TR" sz="1600" dirty="0"/>
          </a:p>
        </p:txBody>
      </p:sp>
      <p:sp>
        <p:nvSpPr>
          <p:cNvPr id="15" name="Metin kutusu 14">
            <a:extLst>
              <a:ext uri="{FF2B5EF4-FFF2-40B4-BE49-F238E27FC236}">
                <a16:creationId xmlns:a16="http://schemas.microsoft.com/office/drawing/2014/main" id="{CEE2EBC3-B2A1-46DB-80B3-92E20F3DBE97}"/>
              </a:ext>
            </a:extLst>
          </p:cNvPr>
          <p:cNvSpPr txBox="1"/>
          <p:nvPr/>
        </p:nvSpPr>
        <p:spPr>
          <a:xfrm>
            <a:off x="758933" y="262526"/>
            <a:ext cx="2929713" cy="430887"/>
          </a:xfrm>
          <a:prstGeom prst="rect">
            <a:avLst/>
          </a:prstGeom>
          <a:noFill/>
        </p:spPr>
        <p:txBody>
          <a:bodyPr wrap="none" rtlCol="0">
            <a:spAutoFit/>
          </a:bodyPr>
          <a:lstStyle/>
          <a:p>
            <a:r>
              <a:rPr lang="tr-TR" sz="2200" b="1" dirty="0" err="1"/>
              <a:t>Results</a:t>
            </a:r>
            <a:r>
              <a:rPr lang="tr-TR" sz="2200" b="1" dirty="0"/>
              <a:t> </a:t>
            </a:r>
            <a:r>
              <a:rPr lang="tr-TR" sz="2200" b="1" dirty="0" err="1"/>
              <a:t>and</a:t>
            </a:r>
            <a:r>
              <a:rPr lang="tr-TR" sz="2200" b="1" dirty="0"/>
              <a:t> </a:t>
            </a:r>
            <a:r>
              <a:rPr lang="tr-TR" sz="2200" b="1" dirty="0" err="1"/>
              <a:t>Discussions</a:t>
            </a:r>
            <a:endParaRPr lang="tr-TR" sz="2200" b="1" dirty="0"/>
          </a:p>
        </p:txBody>
      </p:sp>
    </p:spTree>
    <p:extLst>
      <p:ext uri="{BB962C8B-B14F-4D97-AF65-F5344CB8AC3E}">
        <p14:creationId xmlns:p14="http://schemas.microsoft.com/office/powerpoint/2010/main" val="1272205144"/>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602</TotalTime>
  <Words>1225</Words>
  <Application>Microsoft Office PowerPoint</Application>
  <PresentationFormat>Geniş ekran</PresentationFormat>
  <Paragraphs>77</Paragraphs>
  <Slides>11</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11</vt:i4>
      </vt:variant>
    </vt:vector>
  </HeadingPairs>
  <TitlesOfParts>
    <vt:vector size="16" baseType="lpstr">
      <vt:lpstr>Arial</vt:lpstr>
      <vt:lpstr>Calibri</vt:lpstr>
      <vt:lpstr>Calibri Light</vt:lpstr>
      <vt:lpstr>Wingdings</vt:lpstr>
      <vt:lpstr>Office Teması</vt:lpstr>
      <vt:lpstr>Evaluation of your data collection &amp; information retrieval system- Homework 1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dilara alkan</dc:creator>
  <cp:lastModifiedBy>dilara alkan</cp:lastModifiedBy>
  <cp:revision>25</cp:revision>
  <dcterms:created xsi:type="dcterms:W3CDTF">2025-04-02T17:09:31Z</dcterms:created>
  <dcterms:modified xsi:type="dcterms:W3CDTF">2025-04-03T03:12:53Z</dcterms:modified>
</cp:coreProperties>
</file>